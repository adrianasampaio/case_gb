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IBM Plex Sans"/>
      <p:regular r:id="rId24"/>
      <p:bold r:id="rId25"/>
      <p:italic r:id="rId26"/>
      <p:boldItalic r:id="rId27"/>
    </p:embeddedFont>
    <p:embeddedFont>
      <p:font typeface="IBM Plex Sans Light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30">
          <p15:clr>
            <a:srgbClr val="980000"/>
          </p15:clr>
        </p15:guide>
        <p15:guide id="2" pos="264">
          <p15:clr>
            <a:srgbClr val="980000"/>
          </p15:clr>
        </p15:guide>
        <p15:guide id="3" orient="horz" pos="603">
          <p15:clr>
            <a:srgbClr val="980000"/>
          </p15:clr>
        </p15:guide>
        <p15:guide id="4" orient="horz" pos="723">
          <p15:clr>
            <a:srgbClr val="747775"/>
          </p15:clr>
        </p15:guide>
        <p15:guide id="5" orient="horz" pos="206">
          <p15:clr>
            <a:srgbClr val="747775"/>
          </p15:clr>
        </p15:guide>
        <p15:guide id="6" pos="5329">
          <p15:clr>
            <a:srgbClr val="980000"/>
          </p15:clr>
        </p15:guide>
        <p15:guide id="7" orient="horz" pos="603">
          <p15:clr>
            <a:srgbClr val="747775"/>
          </p15:clr>
        </p15:guide>
        <p15:guide id="8" orient="horz" pos="526">
          <p15:clr>
            <a:srgbClr val="747775"/>
          </p15:clr>
        </p15:guide>
        <p15:guide id="9" orient="horz" pos="518">
          <p15:clr>
            <a:srgbClr val="747775"/>
          </p15:clr>
        </p15:guide>
        <p15:guide id="10" orient="horz" pos="522">
          <p15:clr>
            <a:srgbClr val="747775"/>
          </p15:clr>
        </p15:guide>
        <p15:guide id="11" orient="horz">
          <p15:clr>
            <a:srgbClr val="747775"/>
          </p15:clr>
        </p15:guide>
        <p15:guide id="12" orient="horz" pos="30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D2C7DE-8383-4968-AAA6-BD4D4D1370B5}">
  <a:tblStyle styleId="{EFD2C7DE-8383-4968-AAA6-BD4D4D1370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30" orient="horz"/>
        <p:guide pos="264"/>
        <p:guide pos="603" orient="horz"/>
        <p:guide pos="723" orient="horz"/>
        <p:guide pos="206" orient="horz"/>
        <p:guide pos="5329"/>
        <p:guide pos="603" orient="horz"/>
        <p:guide pos="526" orient="horz"/>
        <p:guide pos="518" orient="horz"/>
        <p:guide pos="522" orient="horz"/>
        <p:guide orient="horz"/>
        <p:guide pos="30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IBMPlexSans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BMPlexSans-italic.fntdata"/><Relationship Id="rId25" Type="http://schemas.openxmlformats.org/officeDocument/2006/relationships/font" Target="fonts/IBMPlexSans-bold.fntdata"/><Relationship Id="rId28" Type="http://schemas.openxmlformats.org/officeDocument/2006/relationships/font" Target="fonts/IBMPlexSansLight-regular.fntdata"/><Relationship Id="rId27" Type="http://schemas.openxmlformats.org/officeDocument/2006/relationships/font" Target="fonts/IBMPlex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ans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Light-boldItalic.fntdata"/><Relationship Id="rId30" Type="http://schemas.openxmlformats.org/officeDocument/2006/relationships/font" Target="fonts/IBMPlexSansLight-italic.fntdata"/><Relationship Id="rId11" Type="http://schemas.openxmlformats.org/officeDocument/2006/relationships/slide" Target="slides/slide5.xml"/><Relationship Id="rId33" Type="http://schemas.openxmlformats.org/officeDocument/2006/relationships/font" Target="fonts/Roboto-bold.fntdata"/><Relationship Id="rId10" Type="http://schemas.openxmlformats.org/officeDocument/2006/relationships/slide" Target="slides/slide4.xml"/><Relationship Id="rId32" Type="http://schemas.openxmlformats.org/officeDocument/2006/relationships/font" Target="fonts/Roboto-regular.fntdata"/><Relationship Id="rId13" Type="http://schemas.openxmlformats.org/officeDocument/2006/relationships/slide" Target="slides/slide7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aaaf696d80_0_1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g3aaaf696d80_0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aaf696d80_0_1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aaaf696d80_0_1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af696d80_0_1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aaaf696d80_0_1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af696d80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aaaf696d80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aaf696d80_0_1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aaaf696d80_0_1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aaf696d80_0_1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aaaf696d80_0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b6b8eee33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ab6b8eee33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aaf696d80_0_1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aaaf696d80_0_1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aaf696d80_0_1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aaaf696d80_0_1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6b8eee33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ab6b8eee33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b6b8eee33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ab6b8eee33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b6b8eee33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ab6b8eee33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b6b8eee33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ab6b8eee33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b6b8eee33_1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ab6b8eee33_1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b6b8eee33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g3ab6b8eee33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Azul Marinho" type="title">
  <p:cSld name="TITLE">
    <p:bg>
      <p:bgPr>
        <a:solidFill>
          <a:srgbClr val="001E38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"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67200" y="4514400"/>
            <a:ext cx="2278801" cy="5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 txBox="1"/>
          <p:nvPr/>
        </p:nvSpPr>
        <p:spPr>
          <a:xfrm>
            <a:off x="371249" y="128710"/>
            <a:ext cx="644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500"/>
              <a:buFont typeface="IBM Plex Sans"/>
              <a:buNone/>
            </a:pPr>
            <a:r>
              <a:rPr b="0" i="0" lang="pt-BR" sz="5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GRUPO BOTICÁRIO</a:t>
            </a:r>
            <a:endParaRPr b="0" i="0" sz="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2"/>
          <p:cNvSpPr txBox="1"/>
          <p:nvPr/>
        </p:nvSpPr>
        <p:spPr>
          <a:xfrm>
            <a:off x="1277128" y="128700"/>
            <a:ext cx="15612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500"/>
              <a:buFont typeface="IBM Plex Sans"/>
              <a:buNone/>
            </a:pPr>
            <a:r>
              <a:rPr b="0" i="0" lang="pt-BR" sz="500" u="none" cap="none" strike="noStrik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DIRETORIA CRÉDITO COBRANÇA E FRAUDES</a:t>
            </a:r>
            <a:endParaRPr b="0" i="0" sz="500" u="none" cap="none" strike="noStrike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62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Off-white 1">
  <p:cSld name="TITLE_1_1_1_1_1_1_6">
    <p:bg>
      <p:bgPr>
        <a:solidFill>
          <a:srgbClr val="F5F1E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4"/>
          <p:cNvCxnSpPr/>
          <p:nvPr/>
        </p:nvCxnSpPr>
        <p:spPr>
          <a:xfrm>
            <a:off x="226506" y="531079"/>
            <a:ext cx="8687400" cy="0"/>
          </a:xfrm>
          <a:prstGeom prst="straightConnector1">
            <a:avLst/>
          </a:prstGeom>
          <a:noFill/>
          <a:ln cap="flat" cmpd="sng" w="9525">
            <a:solidFill>
              <a:srgbClr val="FFBC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4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264FEC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226506" y="571516"/>
            <a:ext cx="8697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11F38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4"/>
          <p:cNvSpPr txBox="1"/>
          <p:nvPr/>
        </p:nvSpPr>
        <p:spPr>
          <a:xfrm>
            <a:off x="8839515" y="128710"/>
            <a:ext cx="123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pt-BR" sz="500" u="none" cap="none" strike="noStrike">
                <a:solidFill>
                  <a:srgbClr val="011F3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500" u="none" cap="none" strike="noStrike">
              <a:solidFill>
                <a:srgbClr val="011F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" name="Google Shape;16;p4"/>
          <p:cNvSpPr txBox="1"/>
          <p:nvPr/>
        </p:nvSpPr>
        <p:spPr>
          <a:xfrm>
            <a:off x="371249" y="128710"/>
            <a:ext cx="644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500"/>
              <a:buFont typeface="IBM Plex Sans"/>
              <a:buNone/>
            </a:pPr>
            <a:r>
              <a:rPr b="0" i="0" lang="pt-BR" sz="500" u="none" cap="none" strike="noStrike">
                <a:solidFill>
                  <a:srgbClr val="011F38"/>
                </a:solidFill>
                <a:latin typeface="IBM Plex Sans"/>
                <a:ea typeface="IBM Plex Sans"/>
                <a:cs typeface="IBM Plex Sans"/>
                <a:sym typeface="IBM Plex Sans"/>
              </a:rPr>
              <a:t>GRUPO BOTICÁRIO</a:t>
            </a:r>
            <a:endParaRPr b="0" i="0" sz="500" u="none" cap="none" strike="noStrike">
              <a:solidFill>
                <a:srgbClr val="011F3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36">
          <p15:clr>
            <a:srgbClr val="C70E0E"/>
          </p15:clr>
        </p15:guide>
        <p15:guide id="2" pos="5615">
          <p15:clr>
            <a:srgbClr val="C70E0E"/>
          </p15:clr>
        </p15:guide>
        <p15:guide id="3" orient="horz" pos="574">
          <p15:clr>
            <a:srgbClr val="C70E0E"/>
          </p15:clr>
        </p15:guide>
        <p15:guide id="4" orient="horz" pos="3107">
          <p15:clr>
            <a:srgbClr val="C70E0E"/>
          </p15:clr>
        </p15:guide>
        <p15:guide id="5" orient="horz" pos="361">
          <p15:clr>
            <a:srgbClr val="FF99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 Off White 2">
  <p:cSld name="TITLE_2_1_4">
    <p:bg>
      <p:bgPr>
        <a:solidFill>
          <a:srgbClr val="F5F1E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m" id="18" name="Google Shape;18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81325" y="4697050"/>
            <a:ext cx="1464948" cy="32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5"/>
          <p:cNvSpPr txBox="1"/>
          <p:nvPr/>
        </p:nvSpPr>
        <p:spPr>
          <a:xfrm>
            <a:off x="371249" y="128710"/>
            <a:ext cx="644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500"/>
              <a:buFont typeface="IBM Plex Sans"/>
              <a:buNone/>
            </a:pPr>
            <a:r>
              <a:rPr b="0" i="0" lang="pt-BR" sz="500" u="none" cap="none" strike="noStrike">
                <a:solidFill>
                  <a:srgbClr val="011F38"/>
                </a:solidFill>
                <a:latin typeface="IBM Plex Sans"/>
                <a:ea typeface="IBM Plex Sans"/>
                <a:cs typeface="IBM Plex Sans"/>
                <a:sym typeface="IBM Plex Sans"/>
              </a:rPr>
              <a:t>GRUPO BOTICÁRIO</a:t>
            </a:r>
            <a:endParaRPr b="0" i="0" sz="500" u="none" cap="none" strike="noStrike">
              <a:solidFill>
                <a:srgbClr val="011F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"/>
          <p:cNvSpPr txBox="1"/>
          <p:nvPr/>
        </p:nvSpPr>
        <p:spPr>
          <a:xfrm>
            <a:off x="1277129" y="128700"/>
            <a:ext cx="1661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500"/>
              <a:buFont typeface="IBM Plex Sans"/>
              <a:buNone/>
            </a:pPr>
            <a:r>
              <a:rPr b="0" i="0" lang="pt-BR" sz="500" u="none" cap="none" strike="noStrike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DIRETORIA CRÉDITO COBRANÇA E FRAUDES</a:t>
            </a:r>
            <a:endParaRPr b="0" i="0" sz="500" u="none" cap="none" strike="noStrike">
              <a:solidFill>
                <a:srgbClr val="011E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6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no Offwhite">
  <p:cSld name="TITLE_2_1_2">
    <p:bg>
      <p:bgPr>
        <a:solidFill>
          <a:srgbClr val="F5F1EB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6"/>
          <p:cNvCxnSpPr/>
          <p:nvPr/>
        </p:nvCxnSpPr>
        <p:spPr>
          <a:xfrm>
            <a:off x="226506" y="531079"/>
            <a:ext cx="8687400" cy="0"/>
          </a:xfrm>
          <a:prstGeom prst="straightConnector1">
            <a:avLst/>
          </a:prstGeom>
          <a:noFill/>
          <a:ln cap="flat" cmpd="sng" w="9525">
            <a:solidFill>
              <a:srgbClr val="FFBC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6"/>
          <p:cNvSpPr txBox="1"/>
          <p:nvPr/>
        </p:nvSpPr>
        <p:spPr>
          <a:xfrm>
            <a:off x="8796700" y="128700"/>
            <a:ext cx="1668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b="0" i="0" lang="pt-BR" sz="500" u="none" cap="none" strike="noStrike">
                <a:solidFill>
                  <a:srgbClr val="011F38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500" u="none" cap="none" strike="noStrike">
              <a:solidFill>
                <a:srgbClr val="011F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6436725" y="40075"/>
            <a:ext cx="2244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2600"/>
              <a:buFont typeface="IBM Plex Sans"/>
              <a:buNone/>
              <a:defRPr b="0" i="0" sz="800" u="none" cap="none" strike="noStrike">
                <a:solidFill>
                  <a:srgbClr val="011E38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6"/>
          <p:cNvSpPr txBox="1"/>
          <p:nvPr/>
        </p:nvSpPr>
        <p:spPr>
          <a:xfrm>
            <a:off x="371249" y="128710"/>
            <a:ext cx="6441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500"/>
              <a:buFont typeface="IBM Plex Sans"/>
              <a:buNone/>
            </a:pPr>
            <a:r>
              <a:rPr b="0" i="0" lang="pt-BR" sz="500" u="none" cap="none" strike="noStrike">
                <a:solidFill>
                  <a:srgbClr val="011F38"/>
                </a:solidFill>
                <a:latin typeface="IBM Plex Sans"/>
                <a:ea typeface="IBM Plex Sans"/>
                <a:cs typeface="IBM Plex Sans"/>
                <a:sym typeface="IBM Plex Sans"/>
              </a:rPr>
              <a:t>GRUPO BOTICÁRIO</a:t>
            </a:r>
            <a:endParaRPr b="0" i="0" sz="500" u="none" cap="none" strike="noStrike">
              <a:solidFill>
                <a:srgbClr val="011F3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6"/>
          <p:cNvSpPr txBox="1"/>
          <p:nvPr/>
        </p:nvSpPr>
        <p:spPr>
          <a:xfrm>
            <a:off x="1277113" y="128700"/>
            <a:ext cx="12294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EDE6"/>
              </a:buClr>
              <a:buSzPts val="500"/>
              <a:buFont typeface="IBM Plex Sans"/>
              <a:buNone/>
            </a:pPr>
            <a:r>
              <a:rPr b="0" i="0" lang="pt-BR" sz="500" u="none" cap="none" strike="noStrike">
                <a:solidFill>
                  <a:srgbClr val="011F38"/>
                </a:solidFill>
                <a:latin typeface="IBM Plex Sans"/>
                <a:ea typeface="IBM Plex Sans"/>
                <a:cs typeface="IBM Plex Sans"/>
                <a:sym typeface="IBM Plex Sans"/>
              </a:rPr>
              <a:t>DIRETORIA GBBS</a:t>
            </a:r>
            <a:endParaRPr b="0" i="0" sz="500" u="none" cap="none" strike="noStrike">
              <a:solidFill>
                <a:srgbClr val="011F3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62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5F1E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0">
          <p15:clr>
            <a:srgbClr val="EA4335"/>
          </p15:clr>
        </p15:guide>
        <p15:guide id="2" pos="253">
          <p15:clr>
            <a:srgbClr val="EA4335"/>
          </p15:clr>
        </p15:guide>
        <p15:guide id="3" orient="horz" pos="3005">
          <p15:clr>
            <a:srgbClr val="EA4335"/>
          </p15:clr>
        </p15:guide>
        <p15:guide id="4" pos="551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31" name="Google Shape;31;p7"/>
          <p:cNvPicPr preferRelativeResize="0"/>
          <p:nvPr/>
        </p:nvPicPr>
        <p:blipFill rotWithShape="1">
          <a:blip r:embed="rId3">
            <a:alphaModFix/>
          </a:blip>
          <a:srcRect b="0" l="0" r="0" t="6690"/>
          <a:stretch/>
        </p:blipFill>
        <p:spPr>
          <a:xfrm>
            <a:off x="-617472" y="0"/>
            <a:ext cx="9761021" cy="51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226506" y="234625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Índice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420733" y="1927075"/>
            <a:ext cx="5602800" cy="351900"/>
          </a:xfrm>
          <a:prstGeom prst="roundRect">
            <a:avLst>
              <a:gd fmla="val 16667" name="adj"/>
            </a:avLst>
          </a:prstGeom>
          <a:solidFill>
            <a:srgbClr val="264FEC"/>
          </a:solidFill>
          <a:ln>
            <a:noFill/>
          </a:ln>
        </p:spPr>
        <p:txBody>
          <a:bodyPr anchorCtr="0" anchor="ctr" bIns="139450" lIns="139450" spcFirstLastPara="1" rIns="139450" wrap="square" tIns="139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25"/>
              <a:buFont typeface="Arial"/>
              <a:buNone/>
            </a:pPr>
            <a:r>
              <a:rPr b="1" i="0" lang="pt-BR" sz="1830" u="none" cap="none" strike="noStrike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Tema/Action Point</a:t>
            </a:r>
            <a:endParaRPr b="1" i="0" sz="1830" u="none" cap="none" strike="noStrike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6107029" y="2351676"/>
            <a:ext cx="1582800" cy="218700"/>
          </a:xfrm>
          <a:prstGeom prst="roundRect">
            <a:avLst>
              <a:gd fmla="val 16667" name="adj"/>
            </a:avLst>
          </a:prstGeom>
          <a:solidFill>
            <a:srgbClr val="FFBC82">
              <a:alpha val="41960"/>
            </a:srgbClr>
          </a:solidFill>
          <a:ln>
            <a:noFill/>
          </a:ln>
        </p:spPr>
        <p:txBody>
          <a:bodyPr anchorCtr="0" anchor="ctr" bIns="139450" lIns="139450" spcFirstLastPara="1" rIns="139450" wrap="square" tIns="139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8"/>
              <a:buFont typeface="Arial"/>
              <a:buNone/>
            </a:pPr>
            <a:r>
              <a:rPr b="0" i="0" lang="pt-BR" sz="1372" u="none" cap="none" strike="noStrike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Slide </a:t>
            </a:r>
            <a:r>
              <a:rPr lang="pt-BR" sz="1372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b="0" i="0" sz="1372" u="none" cap="none" strike="noStrike">
              <a:solidFill>
                <a:srgbClr val="011E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419100" y="2353826"/>
            <a:ext cx="5602800" cy="219900"/>
          </a:xfrm>
          <a:prstGeom prst="roundRect">
            <a:avLst>
              <a:gd fmla="val 16667" name="adj"/>
            </a:avLst>
          </a:prstGeom>
          <a:solidFill>
            <a:srgbClr val="FFBC82">
              <a:alpha val="41960"/>
            </a:srgbClr>
          </a:solidFill>
          <a:ln>
            <a:noFill/>
          </a:ln>
        </p:spPr>
        <p:txBody>
          <a:bodyPr anchorCtr="0" anchor="ctr" bIns="139450" lIns="82375" spcFirstLastPara="1" rIns="82375" wrap="square" tIns="139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8"/>
              <a:buFont typeface="Arial"/>
              <a:buNone/>
            </a:pPr>
            <a:r>
              <a:rPr lang="pt-BR" sz="1372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Pipeline de Dados + Geração de Indicadores</a:t>
            </a:r>
            <a:endParaRPr sz="1372">
              <a:solidFill>
                <a:srgbClr val="011E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6109358" y="2996535"/>
            <a:ext cx="1582800" cy="219900"/>
          </a:xfrm>
          <a:prstGeom prst="roundRect">
            <a:avLst>
              <a:gd fmla="val 16667" name="adj"/>
            </a:avLst>
          </a:prstGeom>
          <a:solidFill>
            <a:srgbClr val="FFBC82">
              <a:alpha val="41960"/>
            </a:srgbClr>
          </a:solidFill>
          <a:ln>
            <a:noFill/>
          </a:ln>
        </p:spPr>
        <p:txBody>
          <a:bodyPr anchorCtr="0" anchor="ctr" bIns="139450" lIns="139450" spcFirstLastPara="1" rIns="139450" wrap="square" tIns="139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8"/>
              <a:buFont typeface="Arial"/>
              <a:buNone/>
            </a:pPr>
            <a:r>
              <a:rPr b="0" i="0" lang="pt-BR" sz="1372" u="none" cap="none" strike="noStrike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Slide </a:t>
            </a:r>
            <a:r>
              <a:rPr lang="pt-BR" sz="1372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11</a:t>
            </a:r>
            <a:endParaRPr b="0" i="0" sz="1372" u="none" cap="none" strike="noStrike">
              <a:solidFill>
                <a:srgbClr val="011E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8"/>
          <p:cNvSpPr/>
          <p:nvPr/>
        </p:nvSpPr>
        <p:spPr>
          <a:xfrm>
            <a:off x="419117" y="2996154"/>
            <a:ext cx="5602800" cy="219900"/>
          </a:xfrm>
          <a:prstGeom prst="roundRect">
            <a:avLst>
              <a:gd fmla="val 16667" name="adj"/>
            </a:avLst>
          </a:prstGeom>
          <a:solidFill>
            <a:srgbClr val="FFBC82">
              <a:alpha val="41960"/>
            </a:srgbClr>
          </a:solidFill>
          <a:ln>
            <a:noFill/>
          </a:ln>
        </p:spPr>
        <p:txBody>
          <a:bodyPr anchorCtr="0" anchor="ctr" bIns="139450" lIns="82375" spcFirstLastPara="1" rIns="82375" wrap="square" tIns="139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8"/>
              <a:buFont typeface="Arial"/>
              <a:buNone/>
            </a:pPr>
            <a:r>
              <a:rPr lang="pt-BR" sz="1372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Quality e Tratamento de Inconsistências (BigQuery)</a:t>
            </a:r>
            <a:endParaRPr sz="1372">
              <a:solidFill>
                <a:srgbClr val="011E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2" name="Google Shape;42;p8"/>
          <p:cNvSpPr/>
          <p:nvPr/>
        </p:nvSpPr>
        <p:spPr>
          <a:xfrm>
            <a:off x="6114030" y="2668855"/>
            <a:ext cx="1582800" cy="219900"/>
          </a:xfrm>
          <a:prstGeom prst="roundRect">
            <a:avLst>
              <a:gd fmla="val 16667" name="adj"/>
            </a:avLst>
          </a:prstGeom>
          <a:solidFill>
            <a:srgbClr val="FFBC82">
              <a:alpha val="41960"/>
            </a:srgbClr>
          </a:solidFill>
          <a:ln>
            <a:noFill/>
          </a:ln>
        </p:spPr>
        <p:txBody>
          <a:bodyPr anchorCtr="0" anchor="ctr" bIns="139450" lIns="139450" spcFirstLastPara="1" rIns="139450" wrap="square" tIns="139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8"/>
              <a:buFont typeface="Arial"/>
              <a:buNone/>
            </a:pPr>
            <a:r>
              <a:rPr b="0" i="0" lang="pt-BR" sz="1372" u="none" cap="none" strike="noStrike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Slide 8</a:t>
            </a:r>
            <a:endParaRPr b="0" i="0" sz="1372" u="none" cap="none" strike="noStrike">
              <a:solidFill>
                <a:srgbClr val="011E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" name="Google Shape;43;p8"/>
          <p:cNvSpPr/>
          <p:nvPr/>
        </p:nvSpPr>
        <p:spPr>
          <a:xfrm>
            <a:off x="419117" y="2668569"/>
            <a:ext cx="5602800" cy="219900"/>
          </a:xfrm>
          <a:prstGeom prst="roundRect">
            <a:avLst>
              <a:gd fmla="val 16667" name="adj"/>
            </a:avLst>
          </a:prstGeom>
          <a:solidFill>
            <a:srgbClr val="FFBC82">
              <a:alpha val="41960"/>
            </a:srgbClr>
          </a:solidFill>
          <a:ln>
            <a:noFill/>
          </a:ln>
        </p:spPr>
        <p:txBody>
          <a:bodyPr anchorCtr="0" anchor="ctr" bIns="139450" lIns="82375" spcFirstLastPara="1" rIns="82375" wrap="square" tIns="139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78"/>
              <a:buFont typeface="Arial"/>
              <a:buNone/>
            </a:pPr>
            <a:r>
              <a:rPr lang="pt-BR" sz="1372">
                <a:solidFill>
                  <a:srgbClr val="011E38"/>
                </a:solidFill>
                <a:latin typeface="IBM Plex Sans"/>
                <a:ea typeface="IBM Plex Sans"/>
                <a:cs typeface="IBM Plex Sans"/>
                <a:sym typeface="IBM Plex Sans"/>
              </a:rPr>
              <a:t>Orquestração de Processos (Airflow)</a:t>
            </a:r>
            <a:endParaRPr sz="1372">
              <a:solidFill>
                <a:srgbClr val="011E3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Pipeline de Dados + Geração de Indicadores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Completa: RAW → TRUSTED → VALIDAÇÕES → INDICADORES</a:t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26503" y="773250"/>
            <a:ext cx="4514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300"/>
              <a:t>Parte 1 — Pipeline RAW → TRUSTED</a:t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300"/>
          </a:p>
        </p:txBody>
      </p:sp>
      <p:sp>
        <p:nvSpPr>
          <p:cNvPr id="51" name="Google Shape;51;p9"/>
          <p:cNvSpPr txBox="1"/>
          <p:nvPr>
            <p:ph type="title"/>
          </p:nvPr>
        </p:nvSpPr>
        <p:spPr>
          <a:xfrm>
            <a:off x="232371" y="969600"/>
            <a:ext cx="436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000">
                <a:solidFill>
                  <a:schemeClr val="dk1"/>
                </a:solidFill>
              </a:rPr>
              <a:t>Ingestão, Estruturação e Validação da Base de Usuários</a:t>
            </a:r>
            <a:endParaRPr b="0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000">
              <a:solidFill>
                <a:schemeClr val="dk1"/>
              </a:solidFill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4932000" y="1227325"/>
            <a:ext cx="39600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360000" y="1227400"/>
            <a:ext cx="39600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503280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Arquitetura do Pipeline</a:t>
            </a:r>
            <a:endParaRPr b="1" i="0" sz="1000" u="none" cap="none" strike="noStrike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Fluxo Geral do Processo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57" name="Google Shape;57;p9"/>
          <p:cNvGrpSpPr/>
          <p:nvPr/>
        </p:nvGrpSpPr>
        <p:grpSpPr>
          <a:xfrm>
            <a:off x="545389" y="2262090"/>
            <a:ext cx="1267549" cy="1599340"/>
            <a:chOff x="1083025" y="1574025"/>
            <a:chExt cx="1834900" cy="2315200"/>
          </a:xfrm>
        </p:grpSpPr>
        <p:sp>
          <p:nvSpPr>
            <p:cNvPr id="58" name="Google Shape;58;p9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150" lIns="63150" spcFirstLastPara="1" rIns="63150" wrap="square" tIns="63150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105"/>
                </a:spcAft>
                <a:buNone/>
              </a:pPr>
              <a:r>
                <a:rPr lang="pt-BR" sz="552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Ingestão</a:t>
              </a:r>
              <a:endParaRPr sz="552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9" name="Google Shape;59;p9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3150" lIns="63150" spcFirstLastPara="1" rIns="63150" wrap="square" tIns="631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69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API</a:t>
              </a:r>
              <a:endParaRPr b="1" sz="69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0" name="Google Shape;60;p9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150" lIns="63150" spcFirstLastPara="1" rIns="63150" wrap="square" tIns="631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105"/>
                </a:spcAft>
                <a:buNone/>
              </a:pPr>
              <a:r>
                <a:rPr lang="pt-BR" sz="552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API consumida no start do processo.</a:t>
              </a:r>
              <a:endParaRPr sz="552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1" name="Google Shape;61;p9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" name="Google Shape;62;p9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63150" lIns="63150" spcFirstLastPara="1" rIns="63150" wrap="square" tIns="6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67"/>
                <a:t>  </a:t>
              </a:r>
              <a:endParaRPr sz="967"/>
            </a:p>
          </p:txBody>
        </p:sp>
        <p:sp>
          <p:nvSpPr>
            <p:cNvPr id="63" name="Google Shape;63;p9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63150" lIns="63150" spcFirstLastPara="1" rIns="63150" wrap="square" tIns="6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9"/>
          <p:cNvGrpSpPr/>
          <p:nvPr/>
        </p:nvGrpSpPr>
        <p:grpSpPr>
          <a:xfrm>
            <a:off x="1725810" y="2262090"/>
            <a:ext cx="1267549" cy="1599340"/>
            <a:chOff x="1083025" y="1574025"/>
            <a:chExt cx="1834900" cy="2315200"/>
          </a:xfrm>
        </p:grpSpPr>
        <p:sp>
          <p:nvSpPr>
            <p:cNvPr id="65" name="Google Shape;65;p9"/>
            <p:cNvSpPr txBox="1"/>
            <p:nvPr/>
          </p:nvSpPr>
          <p:spPr>
            <a:xfrm>
              <a:off x="1290602" y="1574025"/>
              <a:ext cx="9381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150" lIns="63150" spcFirstLastPara="1" rIns="63150" wrap="square" tIns="63150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105"/>
                </a:spcAft>
                <a:buNone/>
              </a:pPr>
              <a:r>
                <a:rPr lang="pt-BR" sz="552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Transformação</a:t>
              </a:r>
              <a:endParaRPr sz="552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" name="Google Shape;66;p9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3150" lIns="63150" spcFirstLastPara="1" rIns="63150" wrap="square" tIns="631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69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RAW</a:t>
              </a:r>
              <a:endParaRPr b="1" sz="69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7" name="Google Shape;67;p9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150" lIns="63150" spcFirstLastPara="1" rIns="63150" wrap="square" tIns="631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105"/>
                </a:spcAft>
                <a:buNone/>
              </a:pPr>
              <a:r>
                <a:rPr lang="pt-BR" sz="552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Recebe os dados da API e guarda histórico.</a:t>
              </a:r>
              <a:endParaRPr sz="552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68" name="Google Shape;68;p9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9" name="Google Shape;69;p9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63150" lIns="63150" spcFirstLastPara="1" rIns="63150" wrap="square" tIns="6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67"/>
                <a:t>  </a:t>
              </a:r>
              <a:endParaRPr sz="967"/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63150" lIns="63150" spcFirstLastPara="1" rIns="63150" wrap="square" tIns="6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7"/>
            </a:p>
          </p:txBody>
        </p:sp>
      </p:grpSp>
      <p:grpSp>
        <p:nvGrpSpPr>
          <p:cNvPr id="71" name="Google Shape;71;p9"/>
          <p:cNvGrpSpPr/>
          <p:nvPr/>
        </p:nvGrpSpPr>
        <p:grpSpPr>
          <a:xfrm>
            <a:off x="2908233" y="2767679"/>
            <a:ext cx="1267549" cy="1093260"/>
            <a:chOff x="1083025" y="2306625"/>
            <a:chExt cx="1834900" cy="1582600"/>
          </a:xfrm>
        </p:grpSpPr>
        <p:sp>
          <p:nvSpPr>
            <p:cNvPr id="72" name="Google Shape;72;p9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63150" lIns="63150" spcFirstLastPara="1" rIns="63150" wrap="square" tIns="631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69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TRUSTED</a:t>
              </a:r>
              <a:endParaRPr b="1" sz="69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p9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3150" lIns="63150" spcFirstLastPara="1" rIns="63150" wrap="square" tIns="631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105"/>
                </a:spcAft>
                <a:buNone/>
              </a:pPr>
              <a:r>
                <a:rPr lang="pt-BR" sz="552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Gera fotos da posição atual das tabelas a partir da versão mais recente do id do usuário da camada raw.</a:t>
              </a:r>
              <a:endParaRPr sz="552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" name="Google Shape;74;p9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63150" lIns="63150" spcFirstLastPara="1" rIns="63150" wrap="square" tIns="6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67"/>
                <a:t>  </a:t>
              </a:r>
              <a:endParaRPr sz="967"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63150" lIns="63150" spcFirstLastPara="1" rIns="63150" wrap="square" tIns="63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9"/>
          <p:cNvSpPr/>
          <p:nvPr/>
        </p:nvSpPr>
        <p:spPr>
          <a:xfrm>
            <a:off x="6238054" y="1556885"/>
            <a:ext cx="1365900" cy="393000"/>
          </a:xfrm>
          <a:prstGeom prst="roundRect">
            <a:avLst>
              <a:gd fmla="val 0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81175" lIns="81175" spcFirstLastPara="1" rIns="81175" wrap="square" tIns="81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 Pública</a:t>
            </a:r>
            <a:br>
              <a:rPr lang="pt-BR" sz="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(200 usuários JSON)</a:t>
            </a:r>
            <a:endParaRPr sz="799">
              <a:solidFill>
                <a:srgbClr val="FFFFFF"/>
              </a:solidFill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84850" y="2205800"/>
            <a:ext cx="2879400" cy="469800"/>
          </a:xfrm>
          <a:prstGeom prst="roundRect">
            <a:avLst>
              <a:gd fmla="val 644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81175" lIns="81175" spcFirstLastPara="1" rIns="81175" wrap="square" tIns="81175">
            <a:noAutofit/>
          </a:bodyPr>
          <a:lstStyle/>
          <a:p>
            <a:pPr indent="405996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RAW: Dados brutos, íntegros e rastreáveis</a:t>
            </a:r>
            <a:endParaRPr sz="79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5174350" y="2967851"/>
            <a:ext cx="3500400" cy="389400"/>
          </a:xfrm>
          <a:prstGeom prst="roundRect">
            <a:avLst>
              <a:gd fmla="val 0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81175" lIns="81175" spcFirstLastPara="1" rIns="81175" wrap="square" tIns="81175">
            <a:noAutofit/>
          </a:bodyPr>
          <a:lstStyle/>
          <a:p>
            <a:pPr indent="405996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8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TRUSTED: base limpa e padronizada</a:t>
            </a:r>
            <a:endParaRPr sz="88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9"/>
          <p:cNvCxnSpPr>
            <a:stCxn id="77" idx="0"/>
            <a:endCxn id="76" idx="2"/>
          </p:cNvCxnSpPr>
          <p:nvPr/>
        </p:nvCxnSpPr>
        <p:spPr>
          <a:xfrm flipH="1" rot="5400000">
            <a:off x="6794800" y="2076050"/>
            <a:ext cx="255900" cy="36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9"/>
          <p:cNvCxnSpPr>
            <a:stCxn id="78" idx="0"/>
            <a:endCxn id="77" idx="2"/>
          </p:cNvCxnSpPr>
          <p:nvPr/>
        </p:nvCxnSpPr>
        <p:spPr>
          <a:xfrm rot="-5400000">
            <a:off x="6778750" y="2821451"/>
            <a:ext cx="292200" cy="600"/>
          </a:xfrm>
          <a:prstGeom prst="bentConnector3">
            <a:avLst>
              <a:gd fmla="val 50014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9"/>
          <p:cNvSpPr/>
          <p:nvPr/>
        </p:nvSpPr>
        <p:spPr>
          <a:xfrm>
            <a:off x="5174644" y="3649508"/>
            <a:ext cx="3500400" cy="927900"/>
          </a:xfrm>
          <a:prstGeom prst="roundRect">
            <a:avLst>
              <a:gd fmla="val 1186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81175" lIns="81175" spcFirstLastPara="1" rIns="81175" wrap="square" tIns="81175">
            <a:noAutofit/>
          </a:bodyPr>
          <a:lstStyle/>
          <a:p>
            <a:pPr indent="405996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Regras verificadas:</a:t>
            </a:r>
            <a:endParaRPr sz="888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3747" lvl="0" marL="40599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Roboto"/>
              <a:buChar char="-"/>
            </a:pPr>
            <a:r>
              <a:rPr lang="pt-BR" sz="7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IDs duplicados;</a:t>
            </a:r>
            <a:endParaRPr sz="79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3747" lvl="0" marL="40599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Roboto"/>
              <a:buChar char="-"/>
            </a:pPr>
            <a:r>
              <a:rPr lang="pt-BR" sz="799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Usuários sem endereço;</a:t>
            </a:r>
            <a:endParaRPr sz="799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3747" lvl="0" marL="40599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Roboto"/>
              <a:buChar char="-"/>
            </a:pPr>
            <a:r>
              <a:rPr lang="pt-BR" sz="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Usuários sem info profissional;</a:t>
            </a:r>
            <a:endParaRPr sz="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3747" lvl="0" marL="40599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Roboto"/>
              <a:buChar char="-"/>
            </a:pPr>
            <a:r>
              <a:rPr lang="pt-BR" sz="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Distribuição por gênero;</a:t>
            </a:r>
            <a:endParaRPr sz="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3747" lvl="0" marL="40599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Roboto"/>
              <a:buChar char="-"/>
            </a:pPr>
            <a:r>
              <a:rPr lang="pt-BR" sz="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Distribuição por departamento;</a:t>
            </a:r>
            <a:endParaRPr sz="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3747" lvl="0" marL="405996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99"/>
              <a:buFont typeface="Roboto"/>
              <a:buChar char="-"/>
            </a:pPr>
            <a:r>
              <a:rPr lang="pt-BR" sz="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Regras de aplicabilidade (ex.: TI &lt; 40 anos)</a:t>
            </a:r>
            <a:endParaRPr sz="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" name="Google Shape;82;p9"/>
          <p:cNvCxnSpPr>
            <a:stCxn id="78" idx="2"/>
            <a:endCxn id="81" idx="0"/>
          </p:cNvCxnSpPr>
          <p:nvPr/>
        </p:nvCxnSpPr>
        <p:spPr>
          <a:xfrm flipH="1" rot="-5400000">
            <a:off x="6778750" y="3503051"/>
            <a:ext cx="292200" cy="600"/>
          </a:xfrm>
          <a:prstGeom prst="bentConnector3">
            <a:avLst>
              <a:gd fmla="val 50015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Pipeline de Dados + Geração de Indicadores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Completa: RAW → TRUSTED → VALIDAÇÕES → INDICADORES</a:t>
            </a:r>
            <a:endParaRPr/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226503" y="773250"/>
            <a:ext cx="4514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300"/>
              <a:t>Parte 1 — Pipeline RAW → TRUSTED</a:t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300"/>
          </a:p>
        </p:txBody>
      </p:sp>
      <p:sp>
        <p:nvSpPr>
          <p:cNvPr id="90" name="Google Shape;90;p10"/>
          <p:cNvSpPr txBox="1"/>
          <p:nvPr>
            <p:ph type="title"/>
          </p:nvPr>
        </p:nvSpPr>
        <p:spPr>
          <a:xfrm>
            <a:off x="232371" y="969600"/>
            <a:ext cx="436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000">
                <a:solidFill>
                  <a:schemeClr val="dk1"/>
                </a:solidFill>
              </a:rPr>
              <a:t>Ingestão, Estruturação e Validação da Base de Usuários</a:t>
            </a:r>
            <a:endParaRPr b="0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000">
              <a:solidFill>
                <a:schemeClr val="dk1"/>
              </a:solidFill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0"/>
          <p:cNvSpPr/>
          <p:nvPr/>
        </p:nvSpPr>
        <p:spPr>
          <a:xfrm>
            <a:off x="360000" y="12274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Banco de Dados SQLITE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8675" t="0"/>
          <a:stretch/>
        </p:blipFill>
        <p:spPr>
          <a:xfrm>
            <a:off x="465050" y="1366950"/>
            <a:ext cx="4048326" cy="19668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95" name="Google Shape;9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9625" y="1366950"/>
            <a:ext cx="3817492" cy="19668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96" name="Google Shape;96;p10"/>
          <p:cNvPicPr preferRelativeResize="0"/>
          <p:nvPr/>
        </p:nvPicPr>
        <p:blipFill rotWithShape="1">
          <a:blip r:embed="rId5">
            <a:alphaModFix/>
          </a:blip>
          <a:srcRect b="0" l="0" r="35736" t="0"/>
          <a:stretch/>
        </p:blipFill>
        <p:spPr>
          <a:xfrm>
            <a:off x="1682246" y="2195500"/>
            <a:ext cx="2911724" cy="1966801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97" name="Google Shape;97;p10"/>
          <p:cNvPicPr preferRelativeResize="0"/>
          <p:nvPr/>
        </p:nvPicPr>
        <p:blipFill rotWithShape="1">
          <a:blip r:embed="rId6">
            <a:alphaModFix/>
          </a:blip>
          <a:srcRect b="0" l="0" r="14937" t="0"/>
          <a:stretch/>
        </p:blipFill>
        <p:spPr>
          <a:xfrm>
            <a:off x="4680675" y="2195500"/>
            <a:ext cx="3941900" cy="1966801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98" name="Google Shape;98;p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00388" y="2784453"/>
            <a:ext cx="4865777" cy="2045339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Pipeline de Dados + Geração de Indicadores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Completa: RAW → TRUSTED → VALIDAÇÕES → INDICADORES</a:t>
            </a:r>
            <a:endParaRPr/>
          </a:p>
        </p:txBody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26503" y="773250"/>
            <a:ext cx="4514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300"/>
              <a:t>Parte 1 — Pipeline RAW → TRUSTED</a:t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300"/>
          </a:p>
        </p:txBody>
      </p:sp>
      <p:sp>
        <p:nvSpPr>
          <p:cNvPr id="106" name="Google Shape;106;p11"/>
          <p:cNvSpPr txBox="1"/>
          <p:nvPr>
            <p:ph type="title"/>
          </p:nvPr>
        </p:nvSpPr>
        <p:spPr>
          <a:xfrm>
            <a:off x="232371" y="969600"/>
            <a:ext cx="436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000">
                <a:solidFill>
                  <a:schemeClr val="dk1"/>
                </a:solidFill>
              </a:rPr>
              <a:t>Ingestão, Estruturação e Validação da Base de Usuários</a:t>
            </a:r>
            <a:endParaRPr b="0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000">
              <a:solidFill>
                <a:schemeClr val="dk1"/>
              </a:solidFill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360000" y="12274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1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Entregáveis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10" name="Google Shape;110;p11"/>
          <p:cNvGraphicFramePr/>
          <p:nvPr/>
        </p:nvGraphicFramePr>
        <p:xfrm>
          <a:off x="667663" y="2711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{EFD2C7DE-8383-4968-AAA6-BD4D4D1370B5}</a:tableStyleId>
              </a:tblPr>
              <a:tblGrid>
                <a:gridCol w="1732550"/>
                <a:gridCol w="5067500"/>
                <a:gridCol w="1008625"/>
              </a:tblGrid>
              <a:tr h="367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Entregável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Descrição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Questão Relacionada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</a:tr>
              <a:tr h="20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etl_users.py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Ingestão da API, criação do banco SQLite e transformação RAW → TRUSTED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Q1 Parte 1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etl_users_validations.py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Regras de validação aplicadas sobre as camadas RAW e TRUSTED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Q1 Parte 1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Pipeline de Dados + Geração de Indicadores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Completa: RAW → TRUSTED → VALIDAÇÕES → INDICADORES</a:t>
            </a:r>
            <a:endParaRPr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226503" y="773250"/>
            <a:ext cx="4514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300"/>
              <a:t>Parte 2 — Indicadores SQL</a:t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300"/>
          </a:p>
        </p:txBody>
      </p:sp>
      <p:sp>
        <p:nvSpPr>
          <p:cNvPr id="118" name="Google Shape;118;p12"/>
          <p:cNvSpPr txBox="1"/>
          <p:nvPr>
            <p:ph type="title"/>
          </p:nvPr>
        </p:nvSpPr>
        <p:spPr>
          <a:xfrm>
            <a:off x="232371" y="969600"/>
            <a:ext cx="436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000">
                <a:solidFill>
                  <a:schemeClr val="dk1"/>
                </a:solidFill>
              </a:rPr>
              <a:t>Conjunto de indicadores analíticos foi desenvolvido usando SQL</a:t>
            </a:r>
            <a:endParaRPr b="0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000">
              <a:solidFill>
                <a:schemeClr val="dk1"/>
              </a:solidFill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2"/>
          <p:cNvSpPr/>
          <p:nvPr/>
        </p:nvSpPr>
        <p:spPr>
          <a:xfrm>
            <a:off x="4932000" y="1227325"/>
            <a:ext cx="39600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/>
          <p:nvPr/>
        </p:nvSpPr>
        <p:spPr>
          <a:xfrm>
            <a:off x="360000" y="1227400"/>
            <a:ext cx="39600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503280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Banco de Dados SQLITE</a:t>
            </a:r>
            <a:endParaRPr b="1" i="0" sz="1000" u="none" cap="none" strike="noStrike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Indicadores Criados</a:t>
            </a:r>
            <a:endParaRPr b="1" i="0" sz="1000" u="none" cap="none" strike="noStrike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533525" y="1944000"/>
            <a:ext cx="1034400" cy="234000"/>
          </a:xfrm>
          <a:prstGeom prst="homePlate">
            <a:avLst>
              <a:gd fmla="val 50000" name="adj"/>
            </a:avLst>
          </a:prstGeom>
          <a:solidFill>
            <a:srgbClr val="F76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pct_usuarios_ti</a:t>
            </a:r>
            <a:endParaRPr b="0" i="0" sz="8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533525" y="2448000"/>
            <a:ext cx="1034400" cy="234000"/>
          </a:xfrm>
          <a:prstGeom prst="homePlate">
            <a:avLst>
              <a:gd fmla="val 50000" name="adj"/>
            </a:avLst>
          </a:prstGeom>
          <a:solidFill>
            <a:srgbClr val="F76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idade_media</a:t>
            </a:r>
            <a:endParaRPr b="0" i="0" sz="8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533525" y="2970000"/>
            <a:ext cx="1034400" cy="234000"/>
          </a:xfrm>
          <a:prstGeom prst="homePlate">
            <a:avLst>
              <a:gd fmla="val 50000" name="adj"/>
            </a:avLst>
          </a:prstGeom>
          <a:solidFill>
            <a:srgbClr val="F76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total_usuarios </a:t>
            </a:r>
            <a:endParaRPr b="0" i="0" sz="8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533525" y="3474000"/>
            <a:ext cx="1034400" cy="234000"/>
          </a:xfrm>
          <a:prstGeom prst="homePlate">
            <a:avLst>
              <a:gd fmla="val 50000" name="adj"/>
            </a:avLst>
          </a:prstGeom>
          <a:solidFill>
            <a:srgbClr val="F762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pt-BR" sz="8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pct_menos_30   </a:t>
            </a:r>
            <a:endParaRPr b="0" i="0" sz="800" u="none" cap="none" strike="noStrik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28" name="Google Shape;12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4950" y="2077325"/>
            <a:ext cx="3674100" cy="1304775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129" name="Google Shape;129;p12"/>
          <p:cNvSpPr/>
          <p:nvPr/>
        </p:nvSpPr>
        <p:spPr>
          <a:xfrm>
            <a:off x="3885901" y="1944000"/>
            <a:ext cx="270600" cy="234000"/>
          </a:xfrm>
          <a:prstGeom prst="chevron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499351" y="1944000"/>
            <a:ext cx="2661300" cy="234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Percentual de usuários da área de TI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1499351" y="2448000"/>
            <a:ext cx="2661300" cy="234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Média de idade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1499351" y="2970000"/>
            <a:ext cx="2661300" cy="234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Total de usuários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1499350" y="3474000"/>
            <a:ext cx="2661300" cy="2340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Percentual de usuários com menos de 30 anos</a:t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3887425" y="2969892"/>
            <a:ext cx="270600" cy="234000"/>
          </a:xfrm>
          <a:prstGeom prst="chevron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3888949" y="3474000"/>
            <a:ext cx="270600" cy="234000"/>
          </a:xfrm>
          <a:prstGeom prst="chevron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3887425" y="2448684"/>
            <a:ext cx="270600" cy="234000"/>
          </a:xfrm>
          <a:prstGeom prst="chevron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Pipeline de Dados + Geração de Indicadores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Completa: RAW → TRUSTED → VALIDAÇÕES → INDICADORES</a:t>
            </a:r>
            <a:endParaRPr/>
          </a:p>
        </p:txBody>
      </p:sp>
      <p:sp>
        <p:nvSpPr>
          <p:cNvPr id="143" name="Google Shape;143;p13"/>
          <p:cNvSpPr txBox="1"/>
          <p:nvPr>
            <p:ph type="title"/>
          </p:nvPr>
        </p:nvSpPr>
        <p:spPr>
          <a:xfrm>
            <a:off x="226503" y="773250"/>
            <a:ext cx="45141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300"/>
              <a:t>Parte 2 — Indicadores SQL</a:t>
            </a:r>
            <a:endParaRPr b="0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300"/>
          </a:p>
        </p:txBody>
      </p:sp>
      <p:sp>
        <p:nvSpPr>
          <p:cNvPr id="144" name="Google Shape;144;p13"/>
          <p:cNvSpPr txBox="1"/>
          <p:nvPr>
            <p:ph type="title"/>
          </p:nvPr>
        </p:nvSpPr>
        <p:spPr>
          <a:xfrm>
            <a:off x="232371" y="969600"/>
            <a:ext cx="4368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1000">
                <a:solidFill>
                  <a:schemeClr val="dk1"/>
                </a:solidFill>
              </a:rPr>
              <a:t>Conjunto de indicadores analíticos foi desenvolvido usando SQL</a:t>
            </a:r>
            <a:endParaRPr b="0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sz="1000">
              <a:solidFill>
                <a:schemeClr val="dk1"/>
              </a:solidFill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/>
          <p:nvPr/>
        </p:nvSpPr>
        <p:spPr>
          <a:xfrm>
            <a:off x="366475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Entregáveis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48" name="Google Shape;148;p13"/>
          <p:cNvGraphicFramePr/>
          <p:nvPr/>
        </p:nvGraphicFramePr>
        <p:xfrm>
          <a:off x="636763" y="260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{EFD2C7DE-8383-4968-AAA6-BD4D4D1370B5}</a:tableStyleId>
              </a:tblPr>
              <a:tblGrid>
                <a:gridCol w="1752600"/>
                <a:gridCol w="5126125"/>
                <a:gridCol w="1020300"/>
              </a:tblGrid>
              <a:tr h="326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Entregável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Descrição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Questão Relacionada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</a:tr>
              <a:tr h="179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etl_users.py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Ingestão da API, criação do banco SQLite e transformação RAW →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1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etl_users_validations.py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Regras de validação aplicadas sobre as camadas RAW e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1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9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indicadores</a:t>
                      </a:r>
                      <a:r>
                        <a:rPr lang="pt-BR" sz="900"/>
                        <a:t>.sql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Script SQL que cria uma tabela de indicadores agregados a partir da camada TRUSTED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Q1 Parte 2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Orquestração de Processos (Airflow)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54" name="Google Shape;154;p14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Cobrança Crítico com Lógica de Acúmulo e Parametrização</a:t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4953825" y="1240800"/>
            <a:ext cx="39600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360000" y="1227400"/>
            <a:ext cx="39600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5032800" y="1152600"/>
            <a:ext cx="26532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Estrutura de Diretórios e Fluxo de Dados</a:t>
            </a:r>
            <a:endParaRPr b="1" i="0" sz="1000" u="none" cap="none" strike="noStrike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Lógica de Fluxo da DAG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0" name="Google Shape;160;p14"/>
          <p:cNvSpPr txBox="1"/>
          <p:nvPr>
            <p:ph type="title"/>
          </p:nvPr>
        </p:nvSpPr>
        <p:spPr>
          <a:xfrm>
            <a:off x="5114775" y="1475400"/>
            <a:ext cx="3638100" cy="3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900">
                <a:solidFill>
                  <a:schemeClr val="dk1"/>
                </a:solidFill>
              </a:rPr>
              <a:t>O fluxo implementa uma estratégia de acumulação e processamento em lote para garantir que nenhuma carga no banco ocorra no final de semana, otimizando recursos: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A cada 5 minutos:</a:t>
            </a:r>
            <a:r>
              <a:rPr b="0" lang="pt-BR" sz="900">
                <a:solidFill>
                  <a:schemeClr val="dk1"/>
                </a:solidFill>
              </a:rPr>
              <a:t> Verifica se o arquivo </a:t>
            </a:r>
            <a:r>
              <a:rPr lang="pt-BR" sz="900">
                <a:solidFill>
                  <a:schemeClr val="dk1"/>
                </a:solidFill>
              </a:rPr>
              <a:t>`pagamentos_d-1.csv` </a:t>
            </a:r>
            <a:r>
              <a:rPr b="0" lang="pt-BR" sz="900">
                <a:solidFill>
                  <a:schemeClr val="dk1"/>
                </a:solidFill>
              </a:rPr>
              <a:t>chegou em </a:t>
            </a:r>
            <a:r>
              <a:rPr lang="pt-BR" sz="900">
                <a:solidFill>
                  <a:schemeClr val="dk1"/>
                </a:solidFill>
              </a:rPr>
              <a:t>`DIR_ORIGEM`</a:t>
            </a:r>
            <a:r>
              <a:rPr b="0" lang="pt-BR" sz="900">
                <a:solidFill>
                  <a:schemeClr val="dk1"/>
                </a:solidFill>
              </a:rPr>
              <a:t>. Se não, a DAG encerra (Short-Circuit).</a:t>
            </a:r>
            <a:endParaRPr b="0"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Processamento:</a:t>
            </a:r>
            <a:r>
              <a:rPr b="0" lang="pt-BR" sz="900">
                <a:solidFill>
                  <a:schemeClr val="dk1"/>
                </a:solidFill>
              </a:rPr>
              <a:t> O arquivo é processado e movido para a pasta de acumulação (</a:t>
            </a:r>
            <a:r>
              <a:rPr lang="pt-BR" sz="900">
                <a:solidFill>
                  <a:schemeClr val="dk1"/>
                </a:solidFill>
              </a:rPr>
              <a:t>`DIR_PROCESSADOS`</a:t>
            </a:r>
            <a:r>
              <a:rPr b="0" lang="pt-BR" sz="900">
                <a:solidFill>
                  <a:schemeClr val="dk1"/>
                </a:solidFill>
              </a:rPr>
              <a:t>).</a:t>
            </a:r>
            <a:endParaRPr b="0"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Fim de Semana (Acúmulo):</a:t>
            </a:r>
            <a:r>
              <a:rPr b="0" lang="pt-BR" sz="900">
                <a:solidFill>
                  <a:schemeClr val="dk1"/>
                </a:solidFill>
              </a:rPr>
              <a:t> O fluxo é direcionado ao `end`, deixando o arquivo acumulado em </a:t>
            </a:r>
            <a:r>
              <a:rPr lang="pt-BR" sz="900">
                <a:solidFill>
                  <a:schemeClr val="dk1"/>
                </a:solidFill>
              </a:rPr>
              <a:t>`DIR_PROCESSADOS`</a:t>
            </a:r>
            <a:r>
              <a:rPr b="0" lang="pt-BR" sz="900">
                <a:solidFill>
                  <a:schemeClr val="dk1"/>
                </a:solidFill>
              </a:rPr>
              <a:t>. </a:t>
            </a:r>
            <a:r>
              <a:rPr lang="pt-BR" sz="900">
                <a:solidFill>
                  <a:schemeClr val="dk1"/>
                </a:solidFill>
              </a:rPr>
              <a:t>Nenhuma carga no DB ocorre.</a:t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Dia Útil (Lote):</a:t>
            </a:r>
            <a:r>
              <a:rPr b="0" lang="pt-BR" sz="900">
                <a:solidFill>
                  <a:schemeClr val="dk1"/>
                </a:solidFill>
              </a:rPr>
              <a:t> O fluxo executa em lote: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t-BR" sz="900">
                <a:solidFill>
                  <a:schemeClr val="dk1"/>
                </a:solidFill>
              </a:rPr>
              <a:t>Carga no DB:</a:t>
            </a:r>
            <a:r>
              <a:rPr b="0" lang="pt-BR" sz="900">
                <a:solidFill>
                  <a:schemeClr val="dk1"/>
                </a:solidFill>
              </a:rPr>
              <a:t> A tarefa lê </a:t>
            </a:r>
            <a:r>
              <a:rPr lang="pt-BR" sz="900">
                <a:solidFill>
                  <a:schemeClr val="dk1"/>
                </a:solidFill>
              </a:rPr>
              <a:t>TODOS</a:t>
            </a:r>
            <a:r>
              <a:rPr b="0" lang="pt-BR" sz="900">
                <a:solidFill>
                  <a:schemeClr val="dk1"/>
                </a:solidFill>
              </a:rPr>
              <a:t> os arquivos acumulados em </a:t>
            </a:r>
            <a:r>
              <a:rPr lang="pt-BR" sz="900">
                <a:solidFill>
                  <a:schemeClr val="dk1"/>
                </a:solidFill>
              </a:rPr>
              <a:t>`DIR_PROCESSADOS`</a:t>
            </a:r>
            <a:r>
              <a:rPr b="0" lang="pt-BR" sz="900">
                <a:solidFill>
                  <a:schemeClr val="dk1"/>
                </a:solidFill>
              </a:rPr>
              <a:t> e os envia ao banco de dados.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pt-BR" sz="900">
                <a:solidFill>
                  <a:schemeClr val="dk1"/>
                </a:solidFill>
              </a:rPr>
              <a:t>Arquivamento Final:</a:t>
            </a:r>
            <a:r>
              <a:rPr b="0" lang="pt-BR" sz="900">
                <a:solidFill>
                  <a:schemeClr val="dk1"/>
                </a:solidFill>
              </a:rPr>
              <a:t> Após a carga ser bem-sucedida, </a:t>
            </a:r>
            <a:r>
              <a:rPr lang="pt-BR" sz="900">
                <a:solidFill>
                  <a:schemeClr val="dk1"/>
                </a:solidFill>
              </a:rPr>
              <a:t>TODOS</a:t>
            </a:r>
            <a:r>
              <a:rPr b="0" lang="pt-BR" sz="900">
                <a:solidFill>
                  <a:schemeClr val="dk1"/>
                </a:solidFill>
              </a:rPr>
              <a:t> os arquivos são movidos para </a:t>
            </a:r>
            <a:r>
              <a:rPr lang="pt-BR" sz="900">
                <a:solidFill>
                  <a:schemeClr val="dk1"/>
                </a:solidFill>
              </a:rPr>
              <a:t>`DIR_CARGA_FINAL`</a:t>
            </a:r>
            <a:r>
              <a:rPr b="0" lang="pt-BR" sz="900">
                <a:solidFill>
                  <a:schemeClr val="dk1"/>
                </a:solidFill>
              </a:rPr>
              <a:t>.</a:t>
            </a:r>
            <a:br>
              <a:rPr b="0" lang="pt-BR" sz="900">
                <a:solidFill>
                  <a:schemeClr val="dk1"/>
                </a:solidFill>
              </a:rPr>
            </a:br>
            <a:br>
              <a:rPr b="0" lang="pt-BR" sz="900">
                <a:solidFill>
                  <a:schemeClr val="dk1"/>
                </a:solidFill>
              </a:rPr>
            </a:br>
            <a:r>
              <a:rPr b="0" lang="pt-BR" sz="900">
                <a:solidFill>
                  <a:schemeClr val="dk1"/>
                </a:solidFill>
              </a:rPr>
              <a:t>Obs: A cada etapa do processo, caso haja erro após as tentativas passadas como </a:t>
            </a:r>
            <a:r>
              <a:rPr b="0" lang="pt-BR" sz="900">
                <a:solidFill>
                  <a:schemeClr val="dk1"/>
                </a:solidFill>
              </a:rPr>
              <a:t>parâmetro</a:t>
            </a:r>
            <a:r>
              <a:rPr b="0" lang="pt-BR" sz="900">
                <a:solidFill>
                  <a:schemeClr val="dk1"/>
                </a:solidFill>
              </a:rPr>
              <a:t>, o arquivo é direcionado para uma pasta de “quarentena” de erros e é enviado um alerta </a:t>
            </a:r>
            <a:r>
              <a:rPr b="0" lang="pt-BR" sz="900">
                <a:solidFill>
                  <a:schemeClr val="dk1"/>
                </a:solidFill>
              </a:rPr>
              <a:t>para</a:t>
            </a:r>
            <a:r>
              <a:rPr b="0" lang="pt-BR" sz="900">
                <a:solidFill>
                  <a:schemeClr val="dk1"/>
                </a:solidFill>
              </a:rPr>
              <a:t> verificação.</a:t>
            </a:r>
            <a:endParaRPr b="0" sz="900">
              <a:solidFill>
                <a:schemeClr val="dk1"/>
              </a:solidFill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870325" y="1434475"/>
            <a:ext cx="2538300" cy="244800"/>
          </a:xfrm>
          <a:prstGeom prst="roundRect">
            <a:avLst>
              <a:gd fmla="val 0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</a:t>
            </a: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1 - Verifica se o arquivo chegou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3410325" y="1906200"/>
            <a:ext cx="778200" cy="238200"/>
          </a:xfrm>
          <a:prstGeom prst="roundRect">
            <a:avLst>
              <a:gd fmla="val 50000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1026475" y="1917462"/>
            <a:ext cx="792000" cy="238200"/>
          </a:xfrm>
          <a:prstGeom prst="roundRect">
            <a:avLst>
              <a:gd fmla="val 50000" name="adj"/>
            </a:avLst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749575" y="2393813"/>
            <a:ext cx="1345800" cy="247500"/>
          </a:xfrm>
          <a:prstGeom prst="roundRect">
            <a:avLst>
              <a:gd fmla="val 4638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2 - Processa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3375825" y="3233575"/>
            <a:ext cx="847200" cy="238200"/>
          </a:xfrm>
          <a:prstGeom prst="roundRect">
            <a:avLst>
              <a:gd fmla="val 0" name="adj"/>
            </a:avLst>
          </a:prstGeom>
          <a:solidFill>
            <a:srgbClr val="8585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End.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66" name="Google Shape;166;p14"/>
          <p:cNvCxnSpPr>
            <a:stCxn id="161" idx="2"/>
            <a:endCxn id="162" idx="0"/>
          </p:cNvCxnSpPr>
          <p:nvPr/>
        </p:nvCxnSpPr>
        <p:spPr>
          <a:xfrm flipH="1" rot="-5400000">
            <a:off x="2856025" y="962725"/>
            <a:ext cx="226800" cy="1659900"/>
          </a:xfrm>
          <a:prstGeom prst="bentConnector3">
            <a:avLst>
              <a:gd fmla="val 5003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4"/>
          <p:cNvCxnSpPr>
            <a:stCxn id="163" idx="0"/>
            <a:endCxn id="161" idx="2"/>
          </p:cNvCxnSpPr>
          <p:nvPr/>
        </p:nvCxnSpPr>
        <p:spPr>
          <a:xfrm rot="-5400000">
            <a:off x="1661875" y="1439862"/>
            <a:ext cx="238200" cy="7170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4"/>
          <p:cNvCxnSpPr>
            <a:stCxn id="164" idx="0"/>
            <a:endCxn id="163" idx="2"/>
          </p:cNvCxnSpPr>
          <p:nvPr/>
        </p:nvCxnSpPr>
        <p:spPr>
          <a:xfrm rot="-5400000">
            <a:off x="1303675" y="2274413"/>
            <a:ext cx="238200" cy="6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14"/>
          <p:cNvCxnSpPr>
            <a:stCxn id="162" idx="2"/>
            <a:endCxn id="165" idx="0"/>
          </p:cNvCxnSpPr>
          <p:nvPr/>
        </p:nvCxnSpPr>
        <p:spPr>
          <a:xfrm flipH="1" rot="-5400000">
            <a:off x="3255075" y="2688750"/>
            <a:ext cx="1089300" cy="6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4"/>
          <p:cNvCxnSpPr>
            <a:stCxn id="171" idx="0"/>
            <a:endCxn id="164" idx="2"/>
          </p:cNvCxnSpPr>
          <p:nvPr/>
        </p:nvCxnSpPr>
        <p:spPr>
          <a:xfrm rot="-5400000">
            <a:off x="1300675" y="2763100"/>
            <a:ext cx="244200" cy="6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4"/>
          <p:cNvSpPr/>
          <p:nvPr/>
        </p:nvSpPr>
        <p:spPr>
          <a:xfrm>
            <a:off x="507775" y="2885500"/>
            <a:ext cx="1829400" cy="247500"/>
          </a:xfrm>
          <a:prstGeom prst="roundRect">
            <a:avLst>
              <a:gd fmla="val 4638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3 - Verifica se é dia útil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72" name="Google Shape;172;p14"/>
          <p:cNvCxnSpPr>
            <a:stCxn id="173" idx="0"/>
            <a:endCxn id="171" idx="2"/>
          </p:cNvCxnSpPr>
          <p:nvPr/>
        </p:nvCxnSpPr>
        <p:spPr>
          <a:xfrm rot="-5400000">
            <a:off x="1109025" y="3241212"/>
            <a:ext cx="421800" cy="2052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4"/>
          <p:cNvSpPr/>
          <p:nvPr/>
        </p:nvSpPr>
        <p:spPr>
          <a:xfrm>
            <a:off x="821325" y="3554712"/>
            <a:ext cx="792000" cy="238200"/>
          </a:xfrm>
          <a:prstGeom prst="roundRect">
            <a:avLst>
              <a:gd fmla="val 50000" name="adj"/>
            </a:avLst>
          </a:prstGeom>
          <a:solidFill>
            <a:srgbClr val="249C9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Yes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74" name="Google Shape;174;p14"/>
          <p:cNvCxnSpPr>
            <a:stCxn id="171" idx="2"/>
            <a:endCxn id="175" idx="1"/>
          </p:cNvCxnSpPr>
          <p:nvPr/>
        </p:nvCxnSpPr>
        <p:spPr>
          <a:xfrm flipH="1" rot="-5400000">
            <a:off x="1726225" y="2829250"/>
            <a:ext cx="219600" cy="8271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14"/>
          <p:cNvSpPr/>
          <p:nvPr/>
        </p:nvSpPr>
        <p:spPr>
          <a:xfrm>
            <a:off x="2249450" y="3233575"/>
            <a:ext cx="778200" cy="238200"/>
          </a:xfrm>
          <a:prstGeom prst="roundRect">
            <a:avLst>
              <a:gd fmla="val 50000" name="adj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76" name="Google Shape;176;p14"/>
          <p:cNvCxnSpPr>
            <a:stCxn id="175" idx="3"/>
            <a:endCxn id="165" idx="1"/>
          </p:cNvCxnSpPr>
          <p:nvPr/>
        </p:nvCxnSpPr>
        <p:spPr>
          <a:xfrm>
            <a:off x="3027650" y="3352675"/>
            <a:ext cx="348300" cy="6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14"/>
          <p:cNvCxnSpPr>
            <a:stCxn id="178" idx="0"/>
            <a:endCxn id="173" idx="2"/>
          </p:cNvCxnSpPr>
          <p:nvPr/>
        </p:nvCxnSpPr>
        <p:spPr>
          <a:xfrm flipH="1" rot="5400000">
            <a:off x="1220725" y="3789500"/>
            <a:ext cx="314100" cy="3210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14"/>
          <p:cNvSpPr/>
          <p:nvPr/>
        </p:nvSpPr>
        <p:spPr>
          <a:xfrm>
            <a:off x="391975" y="4107050"/>
            <a:ext cx="2292600" cy="247500"/>
          </a:xfrm>
          <a:prstGeom prst="roundRect">
            <a:avLst>
              <a:gd fmla="val 4638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Step 4 - Carrega no Banco de Dados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79" name="Google Shape;179;p14"/>
          <p:cNvCxnSpPr>
            <a:stCxn id="165" idx="2"/>
            <a:endCxn id="178" idx="2"/>
          </p:cNvCxnSpPr>
          <p:nvPr/>
        </p:nvCxnSpPr>
        <p:spPr>
          <a:xfrm rot="5400000">
            <a:off x="2227425" y="2782675"/>
            <a:ext cx="882900" cy="2261100"/>
          </a:xfrm>
          <a:prstGeom prst="bentConnector3">
            <a:avLst>
              <a:gd fmla="val 126957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360000" y="1227400"/>
            <a:ext cx="47685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5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Orquestração de Processos (Airflow)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Cobrança Crítico com Lógica de Acúmulo e Parametrização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465050" y="1152600"/>
            <a:ext cx="33252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Parametrização de Execução (Airflow Variables)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89" name="Google Shape;189;p15"/>
          <p:cNvGrpSpPr/>
          <p:nvPr/>
        </p:nvGrpSpPr>
        <p:grpSpPr>
          <a:xfrm>
            <a:off x="540000" y="2018286"/>
            <a:ext cx="4320000" cy="1944000"/>
            <a:chOff x="540000" y="1728000"/>
            <a:chExt cx="4320000" cy="1944000"/>
          </a:xfrm>
        </p:grpSpPr>
        <p:sp>
          <p:nvSpPr>
            <p:cNvPr id="190" name="Google Shape;190;p15"/>
            <p:cNvSpPr/>
            <p:nvPr/>
          </p:nvSpPr>
          <p:spPr>
            <a:xfrm>
              <a:off x="2502000" y="1728000"/>
              <a:ext cx="2340000" cy="468000"/>
            </a:xfrm>
            <a:prstGeom prst="chevron">
              <a:avLst>
                <a:gd fmla="val 50000" name="adj"/>
              </a:avLst>
            </a:prstGeom>
            <a:solidFill>
              <a:srgbClr val="F76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</a:t>
              </a:r>
              <a:r>
                <a:rPr b="1" lang="pt-BR" sz="10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</a:t>
              </a:r>
              <a:r>
                <a:rPr b="1" lang="pt-BR" sz="10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crição</a:t>
              </a:r>
              <a:endParaRPr b="1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4500000" y="1728000"/>
              <a:ext cx="360000" cy="468000"/>
            </a:xfrm>
            <a:prstGeom prst="chevron">
              <a:avLst>
                <a:gd fmla="val 0" name="adj"/>
              </a:avLst>
            </a:prstGeom>
            <a:solidFill>
              <a:srgbClr val="F76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540000" y="1728000"/>
              <a:ext cx="1278000" cy="468000"/>
            </a:xfrm>
            <a:prstGeom prst="homePlate">
              <a:avLst>
                <a:gd fmla="val 50000" name="adj"/>
              </a:avLst>
            </a:prstGeom>
            <a:solidFill>
              <a:srgbClr val="F762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b="1" lang="pt-BR" sz="10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Variável</a:t>
              </a:r>
              <a:endParaRPr b="1" i="0" sz="10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620000" y="1728000"/>
              <a:ext cx="1080000" cy="468000"/>
            </a:xfrm>
            <a:prstGeom prst="chevron">
              <a:avLst>
                <a:gd fmla="val 50000" name="adj"/>
              </a:avLst>
            </a:prstGeom>
            <a:solidFill>
              <a:srgbClr val="F76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</a:t>
              </a:r>
              <a:r>
                <a:rPr b="1" lang="pt-BR" sz="10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</a:t>
              </a:r>
              <a:r>
                <a:rPr b="1" lang="pt-BR" sz="10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rão</a:t>
              </a:r>
              <a:endParaRPr b="1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540000" y="2232000"/>
              <a:ext cx="1278000" cy="468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pt-BR" sz="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TENTATIVAS</a:t>
              </a:r>
              <a:endParaRPr b="0" i="0" sz="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620000" y="2232000"/>
              <a:ext cx="1080000" cy="4680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</a:t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2502000" y="2232000"/>
              <a:ext cx="2340000" cy="4680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Número de vezes que a tarefa deve tentar reexecutar em caso de falha</a:t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540000" y="2718000"/>
              <a:ext cx="1278000" cy="468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00"/>
                <a:buFont typeface="Arial"/>
                <a:buNone/>
              </a:pP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DELAY_MINUTOS</a:t>
              </a:r>
              <a:endParaRPr b="0" i="0" sz="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1620000" y="2718000"/>
              <a:ext cx="1080000" cy="4680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5</a:t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2502000" y="2718000"/>
              <a:ext cx="2340000" cy="4680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Intervalo de espera, em minutos, entre as tentativas (</a:t>
              </a:r>
              <a:r>
                <a:rPr b="1"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retries</a:t>
              </a: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)</a:t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540000" y="3204000"/>
              <a:ext cx="1278000" cy="468000"/>
            </a:xfrm>
            <a:prstGeom prst="homePlate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rPr lang="pt-BR" sz="8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DIAS_FLUXO_BANCO</a:t>
              </a:r>
              <a:endParaRPr b="0" i="0" sz="800" u="none" cap="none" strike="noStrik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1620000" y="3204000"/>
              <a:ext cx="1080000" cy="4680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1,2,3,4,5</a:t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4500000" y="2232000"/>
              <a:ext cx="360000" cy="468000"/>
            </a:xfrm>
            <a:prstGeom prst="chevron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4500000" y="2718000"/>
              <a:ext cx="360000" cy="468000"/>
            </a:xfrm>
            <a:prstGeom prst="chevron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4500000" y="3204000"/>
              <a:ext cx="360000" cy="468000"/>
            </a:xfrm>
            <a:prstGeom prst="chevron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2502000" y="3204000"/>
              <a:ext cx="2340000" cy="468000"/>
            </a:xfrm>
            <a:prstGeom prst="chevron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Dias da semana que devem seguir o fluxo de </a:t>
              </a:r>
              <a:r>
                <a:rPr b="1"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carga no banco</a:t>
              </a:r>
              <a:r>
                <a:rPr lang="pt-BR" sz="80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. Outros dias apenas acumulam</a:t>
              </a:r>
              <a:endPara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6" name="Google Shape;206;p15"/>
          <p:cNvSpPr/>
          <p:nvPr/>
        </p:nvSpPr>
        <p:spPr>
          <a:xfrm>
            <a:off x="5418675" y="1240800"/>
            <a:ext cx="34953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5488379" y="1152600"/>
            <a:ext cx="23418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DAG PRINTS</a:t>
            </a:r>
            <a:endParaRPr b="1" i="0" sz="1000" u="none" cap="none" strike="noStrike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08" name="Google Shape;2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7474" y="1707337"/>
            <a:ext cx="3137725" cy="1405525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209" name="Google Shape;20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7475" y="3376550"/>
            <a:ext cx="3137724" cy="1205804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Orquestração de Processos (Airflow)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Cobrança Crítico com Lógica de Acúmulo e Parametrização</a:t>
            </a:r>
            <a:endParaRPr/>
          </a:p>
        </p:txBody>
      </p:sp>
      <p:sp>
        <p:nvSpPr>
          <p:cNvPr id="216" name="Google Shape;216;p16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366475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Entregáveis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219" name="Google Shape;219;p16"/>
          <p:cNvGraphicFramePr/>
          <p:nvPr/>
        </p:nvGraphicFramePr>
        <p:xfrm>
          <a:off x="613225" y="2449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{EFD2C7DE-8383-4968-AAA6-BD4D4D1370B5}</a:tableStyleId>
              </a:tblPr>
              <a:tblGrid>
                <a:gridCol w="1769325"/>
                <a:gridCol w="5175075"/>
                <a:gridCol w="1030050"/>
              </a:tblGrid>
              <a:tr h="29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Entregável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Descrição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Questão Relacionada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etl_users.py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Ingestão da API, criação do banco SQLite e transformação RAW →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1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etl_users_validations.py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Regras de validação aplicadas sobre as camadas RAW e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1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indicadores</a:t>
                      </a: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.sql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Script SQL que cria uma tabela de indicadores agregados a partir da camada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2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dag_regua_cobranca_parametrizavel.py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Definição da DAG com lógica de Branching (Dia Útil vs. Fim de Semana), 3 tentativas de retry e tratamento de erros.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Q2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Data Quality </a:t>
            </a:r>
            <a:r>
              <a:rPr lang="pt-BR"/>
              <a:t>e Tratamento de Inconsistências (BigQuery)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25" name="Google Shape;225;p17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Análise de Discrepância de Dados entre Fontes (GCP vs. Local)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366475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465050" y="1152600"/>
            <a:ext cx="32427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Pontos de Tratamento e Saneamento de Dados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9" name="Google Shape;229;p17"/>
          <p:cNvSpPr txBox="1"/>
          <p:nvPr>
            <p:ph type="title"/>
          </p:nvPr>
        </p:nvSpPr>
        <p:spPr>
          <a:xfrm>
            <a:off x="698225" y="1653708"/>
            <a:ext cx="7659300" cy="28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900">
                <a:solidFill>
                  <a:schemeClr val="dk1"/>
                </a:solidFill>
              </a:rPr>
              <a:t>Antes da comparação final, foram observadas e tratadas cinco discrepâncias entre as fontes de dados (`GCP` e `Local`) que, se não ajustadas, possivelmente seriam reportadas erroneamente como inconsistências: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Separador CSV:</a:t>
            </a:r>
            <a:r>
              <a:rPr b="0" lang="pt-BR" sz="900">
                <a:solidFill>
                  <a:schemeClr val="dk1"/>
                </a:solidFill>
              </a:rPr>
              <a:t> O arquivo GCP utiliza vírgula (`,`) como separador, enquanto o arquivo Local utiliza ponto e vírgula (`;`);</a:t>
            </a:r>
            <a:br>
              <a:rPr b="0" lang="pt-BR" sz="900">
                <a:solidFill>
                  <a:schemeClr val="dk1"/>
                </a:solidFill>
              </a:rPr>
            </a:b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`code_gender`:</a:t>
            </a:r>
            <a:r>
              <a:rPr b="0" lang="pt-BR" sz="900">
                <a:solidFill>
                  <a:schemeClr val="dk1"/>
                </a:solidFill>
              </a:rPr>
              <a:t> O GCP traz valores longos (`Male`, `Female`) e o Local, siglas (`M`, `F`). </a:t>
            </a:r>
            <a:r>
              <a:rPr lang="pt-BR" sz="900">
                <a:solidFill>
                  <a:schemeClr val="dk1"/>
                </a:solidFill>
              </a:rPr>
              <a:t>Tratamento:</a:t>
            </a:r>
            <a:r>
              <a:rPr b="0" lang="pt-BR" sz="900">
                <a:solidFill>
                  <a:schemeClr val="dk1"/>
                </a:solidFill>
              </a:rPr>
              <a:t> Igualado para siglas de um único caractere para ambas as bases;</a:t>
            </a:r>
            <a:br>
              <a:rPr b="0" lang="pt-BR" sz="900">
                <a:solidFill>
                  <a:schemeClr val="dk1"/>
                </a:solidFill>
              </a:rPr>
            </a:b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`amt_income_total`:</a:t>
            </a:r>
            <a:r>
              <a:rPr b="0" lang="pt-BR" sz="900">
                <a:solidFill>
                  <a:schemeClr val="dk1"/>
                </a:solidFill>
              </a:rPr>
              <a:t>O valor no GCP aparenta estar </a:t>
            </a:r>
            <a:r>
              <a:rPr lang="pt-BR" sz="900">
                <a:solidFill>
                  <a:schemeClr val="dk1"/>
                </a:solidFill>
              </a:rPr>
              <a:t>multiplicado por 100</a:t>
            </a:r>
            <a:r>
              <a:rPr b="0" lang="pt-BR" sz="900">
                <a:solidFill>
                  <a:schemeClr val="dk1"/>
                </a:solidFill>
              </a:rPr>
              <a:t> em relação ao Local. </a:t>
            </a:r>
            <a:r>
              <a:rPr lang="pt-BR" sz="900">
                <a:solidFill>
                  <a:schemeClr val="dk1"/>
                </a:solidFill>
              </a:rPr>
              <a:t>Tratamento:</a:t>
            </a:r>
            <a:r>
              <a:rPr b="0" lang="pt-BR" sz="900">
                <a:solidFill>
                  <a:schemeClr val="dk1"/>
                </a:solidFill>
              </a:rPr>
              <a:t> O valor do GCP foi </a:t>
            </a:r>
            <a:r>
              <a:rPr lang="pt-BR" sz="900">
                <a:solidFill>
                  <a:schemeClr val="dk1"/>
                </a:solidFill>
              </a:rPr>
              <a:t>dividido por 100</a:t>
            </a:r>
            <a:r>
              <a:rPr b="0" lang="pt-BR" sz="900">
                <a:solidFill>
                  <a:schemeClr val="dk1"/>
                </a:solidFill>
              </a:rPr>
              <a:t> para padronizar a comparação;</a:t>
            </a:r>
            <a:br>
              <a:rPr b="0" lang="pt-BR" sz="900">
                <a:solidFill>
                  <a:schemeClr val="dk1"/>
                </a:solidFill>
              </a:rPr>
            </a:b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`days_birth`:</a:t>
            </a:r>
            <a:r>
              <a:rPr b="0" lang="pt-BR" sz="900">
                <a:solidFill>
                  <a:schemeClr val="dk1"/>
                </a:solidFill>
              </a:rPr>
              <a:t> O campo GCP traz valores positivos e o Local, negativos (padrão em alguns sistemas). </a:t>
            </a:r>
            <a:r>
              <a:rPr lang="pt-BR" sz="900">
                <a:solidFill>
                  <a:schemeClr val="dk1"/>
                </a:solidFill>
              </a:rPr>
              <a:t>Tratamento:</a:t>
            </a:r>
            <a:r>
              <a:rPr b="0" lang="pt-BR" sz="900">
                <a:solidFill>
                  <a:schemeClr val="dk1"/>
                </a:solidFill>
              </a:rPr>
              <a:t> Os valores do GCP foram </a:t>
            </a:r>
            <a:r>
              <a:rPr lang="pt-BR" sz="900">
                <a:solidFill>
                  <a:schemeClr val="dk1"/>
                </a:solidFill>
              </a:rPr>
              <a:t>multiplicados por -1</a:t>
            </a:r>
            <a:r>
              <a:rPr b="0" lang="pt-BR" sz="900">
                <a:solidFill>
                  <a:schemeClr val="dk1"/>
                </a:solidFill>
              </a:rPr>
              <a:t> para igualar o sinal;</a:t>
            </a:r>
            <a:br>
              <a:rPr b="0" lang="pt-BR" sz="900">
                <a:solidFill>
                  <a:schemeClr val="dk1"/>
                </a:solidFill>
              </a:rPr>
            </a:b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`flag_work_phone`:</a:t>
            </a:r>
            <a:r>
              <a:rPr b="0" lang="pt-BR" sz="900">
                <a:solidFill>
                  <a:schemeClr val="dk1"/>
                </a:solidFill>
              </a:rPr>
              <a:t> O campo no GCP é carregado como `FLOAT`, enquanto no Local é carregado como `INTEGER`. </a:t>
            </a:r>
            <a:r>
              <a:rPr lang="pt-BR" sz="900">
                <a:solidFill>
                  <a:schemeClr val="dk1"/>
                </a:solidFill>
              </a:rPr>
              <a:t>Tratamento:</a:t>
            </a:r>
            <a:r>
              <a:rPr b="0" lang="pt-BR" sz="900">
                <a:solidFill>
                  <a:schemeClr val="dk1"/>
                </a:solidFill>
              </a:rPr>
              <a:t> Ambos foram tipados para `BOOLEAN` para comparação.</a:t>
            </a:r>
            <a:endParaRPr b="0"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Data Quality e Tratamento de Inconsistências (BigQuery)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Análise de Discrepância de Dados entre Fontes (GCP vs. Local)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366475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465050" y="1152600"/>
            <a:ext cx="27492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Análise de Inconsistências Encontradas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9" name="Google Shape;239;p18"/>
          <p:cNvSpPr txBox="1"/>
          <p:nvPr>
            <p:ph type="title"/>
          </p:nvPr>
        </p:nvSpPr>
        <p:spPr>
          <a:xfrm>
            <a:off x="470775" y="1642050"/>
            <a:ext cx="7133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chemeClr val="dk1"/>
                </a:solidFill>
              </a:rPr>
              <a:t>Após o saneamento dos pontos acima, a validação de qualidade identificou uma alta taxa de registros com inconsistências:</a:t>
            </a:r>
            <a:endParaRPr b="0" sz="900">
              <a:solidFill>
                <a:schemeClr val="dk1"/>
              </a:solidFill>
            </a:endParaRPr>
          </a:p>
        </p:txBody>
      </p:sp>
      <p:pic>
        <p:nvPicPr>
          <p:cNvPr id="240" name="Google Shape;240;p18"/>
          <p:cNvPicPr preferRelativeResize="0"/>
          <p:nvPr/>
        </p:nvPicPr>
        <p:blipFill rotWithShape="1">
          <a:blip r:embed="rId3">
            <a:alphaModFix/>
          </a:blip>
          <a:srcRect b="0" l="10754" r="0" t="76859"/>
          <a:stretch/>
        </p:blipFill>
        <p:spPr>
          <a:xfrm>
            <a:off x="947949" y="1940698"/>
            <a:ext cx="2811800" cy="735875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241" name="Google Shape;241;p18"/>
          <p:cNvSpPr txBox="1"/>
          <p:nvPr>
            <p:ph type="title"/>
          </p:nvPr>
        </p:nvSpPr>
        <p:spPr>
          <a:xfrm>
            <a:off x="470775" y="2913000"/>
            <a:ext cx="75678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chemeClr val="dk1"/>
                </a:solidFill>
              </a:rPr>
              <a:t>Os registros com inconsistências foram categorizados nos seguintes cenários, indicando a provável causa raiz em cada fonte:</a:t>
            </a:r>
            <a:endParaRPr b="0" sz="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7950" y="3208580"/>
            <a:ext cx="5193851" cy="875525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Data Quality e Tratamento de Inconsistências (BigQuery)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Análise de Discrepância de Dados entre Fontes (GCP vs. Local)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366475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465050" y="1152600"/>
            <a:ext cx="27492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Resumo e Conclusões da Investigação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2" name="Google Shape;252;p19"/>
          <p:cNvSpPr txBox="1"/>
          <p:nvPr>
            <p:ph type="title"/>
          </p:nvPr>
        </p:nvSpPr>
        <p:spPr>
          <a:xfrm>
            <a:off x="419100" y="1643717"/>
            <a:ext cx="7133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chemeClr val="dk1"/>
                </a:solidFill>
              </a:rPr>
              <a:t>A análise dos cenários aponta para prováveis </a:t>
            </a:r>
            <a:r>
              <a:rPr lang="pt-BR" sz="900">
                <a:solidFill>
                  <a:schemeClr val="dk1"/>
                </a:solidFill>
              </a:rPr>
              <a:t>falhas de ingestão ou transformação</a:t>
            </a:r>
            <a:r>
              <a:rPr b="0" lang="pt-BR" sz="900">
                <a:solidFill>
                  <a:schemeClr val="dk1"/>
                </a:solidFill>
              </a:rPr>
              <a:t> em ambas as fontes:</a:t>
            </a:r>
            <a:endParaRPr b="0" sz="900">
              <a:solidFill>
                <a:schemeClr val="dk1"/>
              </a:solidFill>
            </a:endParaRPr>
          </a:p>
        </p:txBody>
      </p:sp>
      <p:sp>
        <p:nvSpPr>
          <p:cNvPr id="253" name="Google Shape;253;p19"/>
          <p:cNvSpPr txBox="1"/>
          <p:nvPr>
            <p:ph type="title"/>
          </p:nvPr>
        </p:nvSpPr>
        <p:spPr>
          <a:xfrm>
            <a:off x="430950" y="1984498"/>
            <a:ext cx="8282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➔"/>
            </a:pPr>
            <a:r>
              <a:rPr b="0" lang="pt-BR" sz="900">
                <a:solidFill>
                  <a:schemeClr val="dk1"/>
                </a:solidFill>
              </a:rPr>
              <a:t> Inconsistência no `FLAG_WORK_PHONE` (GCP):</a:t>
            </a:r>
            <a:endParaRPr b="0" sz="900">
              <a:solidFill>
                <a:schemeClr val="dk1"/>
              </a:solidFill>
            </a:endParaRPr>
          </a:p>
          <a:p>
            <a:pPr indent="-285750" lvl="1" marL="1371600" rtl="0" algn="l">
              <a:spcBef>
                <a:spcPts val="0"/>
              </a:spcBef>
              <a:spcAft>
                <a:spcPts val="0"/>
              </a:spcAft>
              <a:buClr>
                <a:srgbClr val="C70E0E"/>
              </a:buClr>
              <a:buSzPts val="900"/>
              <a:buChar char="◆"/>
            </a:pPr>
            <a:r>
              <a:rPr b="1" lang="pt-BR" sz="900">
                <a:solidFill>
                  <a:schemeClr val="dk1"/>
                </a:solidFill>
              </a:rPr>
              <a:t>Problema:</a:t>
            </a:r>
            <a:r>
              <a:rPr lang="pt-BR" sz="900">
                <a:solidFill>
                  <a:schemeClr val="dk1"/>
                </a:solidFill>
              </a:rPr>
              <a:t> O campo `flag_work_phone` veio nulo no GCP para a maioria dos registros, mas estava preenchido (True/False) no Local.</a:t>
            </a:r>
            <a:endParaRPr sz="900">
              <a:solidFill>
                <a:schemeClr val="dk1"/>
              </a:solidFill>
            </a:endParaRPr>
          </a:p>
          <a:p>
            <a:pPr indent="-285750" lvl="1" marL="13716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900"/>
              <a:buChar char="◆"/>
            </a:pPr>
            <a:r>
              <a:rPr b="1" lang="pt-BR" sz="900">
                <a:solidFill>
                  <a:schemeClr val="dk1"/>
                </a:solidFill>
              </a:rPr>
              <a:t>Investigação:</a:t>
            </a:r>
            <a:r>
              <a:rPr lang="pt-BR" sz="900">
                <a:solidFill>
                  <a:schemeClr val="dk1"/>
                </a:solidFill>
              </a:rPr>
              <a:t> Não seria suficiente tratar Nulos como `False`, pois os registros ausentes no GCP possuíam flags diversos (`True` ou `False`) na carga Local. A falha é na </a:t>
            </a:r>
            <a:r>
              <a:rPr b="1" lang="pt-BR" sz="900">
                <a:solidFill>
                  <a:schemeClr val="dk1"/>
                </a:solidFill>
              </a:rPr>
              <a:t>carga do campo no GCP</a:t>
            </a:r>
            <a:r>
              <a:rPr lang="pt-BR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54" name="Google Shape;254;p19"/>
          <p:cNvPicPr preferRelativeResize="0"/>
          <p:nvPr/>
        </p:nvPicPr>
        <p:blipFill rotWithShape="1">
          <a:blip r:embed="rId3">
            <a:alphaModFix/>
          </a:blip>
          <a:srcRect b="0" l="11637" r="0" t="0"/>
          <a:stretch/>
        </p:blipFill>
        <p:spPr>
          <a:xfrm>
            <a:off x="1597250" y="2615694"/>
            <a:ext cx="3556017" cy="575625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255" name="Google Shape;255;p19"/>
          <p:cNvSpPr txBox="1"/>
          <p:nvPr>
            <p:ph type="title"/>
          </p:nvPr>
        </p:nvSpPr>
        <p:spPr>
          <a:xfrm>
            <a:off x="445225" y="3492365"/>
            <a:ext cx="82821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➔"/>
            </a:pPr>
            <a:r>
              <a:rPr b="0" lang="pt-BR" sz="900">
                <a:solidFill>
                  <a:schemeClr val="dk1"/>
                </a:solidFill>
              </a:rPr>
              <a:t> </a:t>
            </a:r>
            <a:r>
              <a:rPr b="0" lang="pt-BR" sz="900">
                <a:solidFill>
                  <a:schemeClr val="dk1"/>
                </a:solidFill>
              </a:rPr>
              <a:t>Inconsistência no `OCCUPATION_TYPE` (Local)</a:t>
            </a:r>
            <a:r>
              <a:rPr b="0" lang="pt-BR" sz="900">
                <a:solidFill>
                  <a:schemeClr val="dk1"/>
                </a:solidFill>
              </a:rPr>
              <a:t>:</a:t>
            </a:r>
            <a:endParaRPr b="0" sz="900">
              <a:solidFill>
                <a:schemeClr val="dk1"/>
              </a:solidFill>
            </a:endParaRPr>
          </a:p>
          <a:p>
            <a:pPr indent="-285750" lvl="1" marL="1371600" rtl="0" algn="l">
              <a:spcBef>
                <a:spcPts val="0"/>
              </a:spcBef>
              <a:spcAft>
                <a:spcPts val="0"/>
              </a:spcAft>
              <a:buClr>
                <a:srgbClr val="C70E0E"/>
              </a:buClr>
              <a:buSzPts val="900"/>
              <a:buChar char="◆"/>
            </a:pPr>
            <a:r>
              <a:rPr b="1" lang="pt-BR" sz="900">
                <a:solidFill>
                  <a:schemeClr val="dk1"/>
                </a:solidFill>
              </a:rPr>
              <a:t>Problema:</a:t>
            </a:r>
            <a:r>
              <a:rPr lang="pt-BR" sz="900">
                <a:solidFill>
                  <a:schemeClr val="dk1"/>
                </a:solidFill>
              </a:rPr>
              <a:t> </a:t>
            </a:r>
            <a:r>
              <a:rPr lang="pt-BR" sz="900">
                <a:solidFill>
                  <a:schemeClr val="dk1"/>
                </a:solidFill>
              </a:rPr>
              <a:t>O campo `occupation_type` veio nulo no Local, mas estava preenchido no GCP</a:t>
            </a:r>
            <a:r>
              <a:rPr lang="pt-BR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-285750" lvl="1" marL="13716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900"/>
              <a:buChar char="◆"/>
            </a:pPr>
            <a:r>
              <a:rPr b="1" lang="pt-BR" sz="900">
                <a:solidFill>
                  <a:schemeClr val="dk1"/>
                </a:solidFill>
              </a:rPr>
              <a:t>Investigação:</a:t>
            </a:r>
            <a:r>
              <a:rPr lang="pt-BR" sz="900">
                <a:solidFill>
                  <a:schemeClr val="dk1"/>
                </a:solidFill>
              </a:rPr>
              <a:t> </a:t>
            </a:r>
            <a:r>
              <a:rPr lang="pt-BR" sz="900">
                <a:solidFill>
                  <a:schemeClr val="dk1"/>
                </a:solidFill>
              </a:rPr>
              <a:t>Foi identificado que a carga do GCP preencheu os valores vazios com o </a:t>
            </a:r>
            <a:r>
              <a:rPr b="1" lang="pt-BR" sz="900">
                <a:solidFill>
                  <a:schemeClr val="dk1"/>
                </a:solidFill>
              </a:rPr>
              <a:t>default</a:t>
            </a:r>
            <a:r>
              <a:rPr lang="pt-BR" sz="900">
                <a:solidFill>
                  <a:schemeClr val="dk1"/>
                </a:solidFill>
              </a:rPr>
              <a:t> </a:t>
            </a:r>
            <a:r>
              <a:rPr b="1" lang="pt-BR" sz="900">
                <a:solidFill>
                  <a:schemeClr val="dk1"/>
                </a:solidFill>
              </a:rPr>
              <a:t>'Without Occupation'</a:t>
            </a:r>
            <a:r>
              <a:rPr lang="pt-BR" sz="900">
                <a:solidFill>
                  <a:schemeClr val="dk1"/>
                </a:solidFill>
              </a:rPr>
              <a:t>, o que gerou a divergência na contagem. A inconsistência é puramente um </a:t>
            </a:r>
            <a:r>
              <a:rPr b="1" lang="pt-BR" sz="900">
                <a:solidFill>
                  <a:schemeClr val="dk1"/>
                </a:solidFill>
              </a:rPr>
              <a:t>tratamento de Nulos diferente</a:t>
            </a:r>
            <a:r>
              <a:rPr lang="pt-BR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56" name="Google Shape;25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7250" y="4068065"/>
            <a:ext cx="3556026" cy="284046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Data Quality e Tratamento de Inconsistências (BigQuery)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Análise de Discrepância de Dados entre Fontes (GCP vs. Local)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0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386300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65050" y="1152600"/>
            <a:ext cx="27492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Resumo e Conclusões da Investigação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6" name="Google Shape;266;p20"/>
          <p:cNvSpPr txBox="1"/>
          <p:nvPr>
            <p:ph type="title"/>
          </p:nvPr>
        </p:nvSpPr>
        <p:spPr>
          <a:xfrm>
            <a:off x="459879" y="2023050"/>
            <a:ext cx="8282100" cy="2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➔"/>
            </a:pPr>
            <a:r>
              <a:rPr b="0" lang="pt-BR" sz="900">
                <a:solidFill>
                  <a:schemeClr val="dk1"/>
                </a:solidFill>
              </a:rPr>
              <a:t> Registros Ausentes (Cenário 4):</a:t>
            </a:r>
            <a:endParaRPr b="0" sz="900">
              <a:solidFill>
                <a:schemeClr val="dk1"/>
              </a:solidFill>
            </a:endParaRPr>
          </a:p>
          <a:p>
            <a:pPr indent="-285750" lvl="1" marL="1371600" rtl="0" algn="l">
              <a:spcBef>
                <a:spcPts val="0"/>
              </a:spcBef>
              <a:spcAft>
                <a:spcPts val="0"/>
              </a:spcAft>
              <a:buClr>
                <a:srgbClr val="C70E0E"/>
              </a:buClr>
              <a:buSzPts val="900"/>
              <a:buChar char="◆"/>
            </a:pPr>
            <a:r>
              <a:rPr b="1" lang="pt-BR" sz="900">
                <a:solidFill>
                  <a:schemeClr val="dk1"/>
                </a:solidFill>
              </a:rPr>
              <a:t>Problema:</a:t>
            </a:r>
            <a:r>
              <a:rPr lang="pt-BR" sz="900">
                <a:solidFill>
                  <a:schemeClr val="dk1"/>
                </a:solidFill>
              </a:rPr>
              <a:t> Registros presentes no Local, mas ausentes no GCP.</a:t>
            </a:r>
            <a:endParaRPr sz="900">
              <a:solidFill>
                <a:schemeClr val="dk1"/>
              </a:solidFill>
            </a:endParaRPr>
          </a:p>
          <a:p>
            <a:pPr indent="-285750" lvl="1" marL="1371600" rtl="0" algn="l">
              <a:spcBef>
                <a:spcPts val="0"/>
              </a:spcBef>
              <a:spcAft>
                <a:spcPts val="0"/>
              </a:spcAft>
              <a:buClr>
                <a:srgbClr val="0942A1"/>
              </a:buClr>
              <a:buSzPts val="900"/>
              <a:buChar char="◆"/>
            </a:pPr>
            <a:r>
              <a:rPr b="1" lang="pt-BR" sz="900">
                <a:solidFill>
                  <a:schemeClr val="dk1"/>
                </a:solidFill>
              </a:rPr>
              <a:t>Hipótese: </a:t>
            </a:r>
            <a:r>
              <a:rPr lang="pt-BR" sz="900">
                <a:solidFill>
                  <a:schemeClr val="dk1"/>
                </a:solidFill>
              </a:rPr>
              <a:t>Diferença no</a:t>
            </a:r>
            <a:r>
              <a:rPr b="1" lang="pt-BR" sz="900">
                <a:solidFill>
                  <a:schemeClr val="dk1"/>
                </a:solidFill>
              </a:rPr>
              <a:t> timing</a:t>
            </a:r>
            <a:r>
              <a:rPr lang="pt-BR" sz="900">
                <a:solidFill>
                  <a:schemeClr val="dk1"/>
                </a:solidFill>
              </a:rPr>
              <a:t> das cargas.</a:t>
            </a:r>
            <a:endParaRPr sz="900">
              <a:solidFill>
                <a:schemeClr val="dk1"/>
              </a:solidFill>
            </a:endParaRPr>
          </a:p>
          <a:p>
            <a:pPr indent="-285750" lvl="1" marL="1371600" rtl="0" algn="l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900"/>
              <a:buChar char="◆"/>
            </a:pPr>
            <a:r>
              <a:rPr b="1" lang="pt-BR" sz="900">
                <a:solidFill>
                  <a:schemeClr val="dk1"/>
                </a:solidFill>
              </a:rPr>
              <a:t>Recomendação</a:t>
            </a:r>
            <a:r>
              <a:rPr b="1" lang="pt-BR" sz="900">
                <a:solidFill>
                  <a:schemeClr val="dk1"/>
                </a:solidFill>
              </a:rPr>
              <a:t>:</a:t>
            </a:r>
            <a:r>
              <a:rPr lang="pt-BR" sz="900">
                <a:solidFill>
                  <a:schemeClr val="dk1"/>
                </a:solidFill>
              </a:rPr>
              <a:t> </a:t>
            </a:r>
            <a:r>
              <a:rPr lang="pt-BR" sz="900">
                <a:solidFill>
                  <a:schemeClr val="dk1"/>
                </a:solidFill>
              </a:rPr>
              <a:t>Necessário confirmar se a ausência não é devido a falha na carga do GCP, validando com a </a:t>
            </a:r>
            <a:r>
              <a:rPr b="1" lang="pt-BR" sz="900">
                <a:solidFill>
                  <a:schemeClr val="dk1"/>
                </a:solidFill>
              </a:rPr>
              <a:t>data de carga/atualização</a:t>
            </a:r>
            <a:r>
              <a:rPr lang="pt-BR" sz="900">
                <a:solidFill>
                  <a:schemeClr val="dk1"/>
                </a:solidFill>
              </a:rPr>
              <a:t> (se disponível) ou consultando o sistema de origem</a:t>
            </a:r>
            <a:r>
              <a:rPr lang="pt-BR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900">
                <a:solidFill>
                  <a:schemeClr val="dk1"/>
                </a:solidFill>
              </a:rPr>
            </a:br>
            <a:br>
              <a:rPr lang="pt-B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</a:rPr>
              <a:t>Em resumo, os pontos cruciais de atenção para garantir a qualidade dos dados são:</a:t>
            </a:r>
            <a:br>
              <a:rPr lang="pt-BR" sz="900">
                <a:solidFill>
                  <a:schemeClr val="dk1"/>
                </a:solidFill>
              </a:rPr>
            </a:b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Validar e corrigir a rotina de carga do GCP ou local </a:t>
            </a:r>
            <a:r>
              <a:rPr b="0" lang="pt-BR" sz="900">
                <a:solidFill>
                  <a:schemeClr val="dk1"/>
                </a:solidFill>
              </a:rPr>
              <a:t>para o campo `amt_income_total`;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Corrigir a rotina de carga do GCP </a:t>
            </a:r>
            <a:r>
              <a:rPr b="0" lang="pt-BR" sz="900">
                <a:solidFill>
                  <a:schemeClr val="dk1"/>
                </a:solidFill>
              </a:rPr>
              <a:t>para o campo `flag_work_phone`;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Validar o fluxo de ingestão </a:t>
            </a:r>
            <a:r>
              <a:rPr b="0" lang="pt-BR" sz="900">
                <a:solidFill>
                  <a:schemeClr val="dk1"/>
                </a:solidFill>
              </a:rPr>
              <a:t>para os registros ausentes no GCP.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1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Data Quality e Tratamento de Inconsistências (BigQuery)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Análise de Discrepância de Dados entre Fontes (GCP vs. Local)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386300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65050" y="1152600"/>
            <a:ext cx="11982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Análise técnica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6" name="Google Shape;276;p21"/>
          <p:cNvSpPr txBox="1"/>
          <p:nvPr>
            <p:ph type="title"/>
          </p:nvPr>
        </p:nvSpPr>
        <p:spPr>
          <a:xfrm>
            <a:off x="578825" y="1642050"/>
            <a:ext cx="8148600" cy="27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chemeClr val="dk1"/>
                </a:solidFill>
              </a:rPr>
              <a:t>O script </a:t>
            </a:r>
            <a:r>
              <a:rPr lang="pt-BR" sz="900">
                <a:solidFill>
                  <a:schemeClr val="dk1"/>
                </a:solidFill>
              </a:rPr>
              <a:t>pcr_load_validador_tabelas </a:t>
            </a:r>
            <a:r>
              <a:rPr b="0" lang="pt-BR" sz="900">
                <a:solidFill>
                  <a:schemeClr val="dk1"/>
                </a:solidFill>
              </a:rPr>
              <a:t>implementa uma Stored Procedure genérica (BigQuery) desenhada para realizar uma comparação técnica abrangente entre duas tabelas, que podem residir em datasets ou projetos distintos (Cross-Project/Cross-Dataset).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</a:rPr>
              <a:t>Funcionalidade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chemeClr val="dk1"/>
                </a:solidFill>
              </a:rPr>
              <a:t>A procedure avalia, de forma automatizada e granular, a integridade dos dados, checando quatro métricas de qualidade para cada coluna presente em uma ou ambas as tabelas: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Estrutura (Schema Drift):</a:t>
            </a:r>
            <a:r>
              <a:rPr b="0" lang="pt-BR" sz="900">
                <a:solidFill>
                  <a:schemeClr val="dk1"/>
                </a:solidFill>
              </a:rPr>
              <a:t> Verifica a divergência no formato/tipo de dado (Ex: STRING vs INTEGER);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Integridade de Nulos:</a:t>
            </a:r>
            <a:r>
              <a:rPr b="0" lang="pt-BR" sz="900">
                <a:solidFill>
                  <a:schemeClr val="dk1"/>
                </a:solidFill>
              </a:rPr>
              <a:t> Compara a quantidade de registros nulos;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Cardinalidade:</a:t>
            </a:r>
            <a:r>
              <a:rPr b="0" lang="pt-BR" sz="900">
                <a:solidFill>
                  <a:schemeClr val="dk1"/>
                </a:solidFill>
              </a:rPr>
              <a:t> Compara a quantidade de registros distintos;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Volume (Row Count):</a:t>
            </a:r>
            <a:r>
              <a:rPr b="0" lang="pt-BR" sz="900">
                <a:solidFill>
                  <a:schemeClr val="dk1"/>
                </a:solidFill>
              </a:rPr>
              <a:t> Compara a quantidade total de registros nas tabelas;</a:t>
            </a:r>
            <a:endParaRPr b="0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pt-BR" sz="900">
                <a:solidFill>
                  <a:schemeClr val="dk1"/>
                </a:solidFill>
              </a:rPr>
              <a:t>Divergências de informação:</a:t>
            </a:r>
            <a:r>
              <a:rPr b="0" lang="pt-BR" sz="900">
                <a:solidFill>
                  <a:schemeClr val="dk1"/>
                </a:solidFill>
              </a:rPr>
              <a:t> Compara para cada PK passada no parâmetro a quantidade que possui dados divergentes.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900">
                <a:solidFill>
                  <a:schemeClr val="dk1"/>
                </a:solidFill>
              </a:rPr>
              <a:t>A chamada da procedure exige o caminho completo (</a:t>
            </a:r>
            <a:r>
              <a:rPr lang="pt-BR" sz="900">
                <a:solidFill>
                  <a:schemeClr val="dk1"/>
                </a:solidFill>
              </a:rPr>
              <a:t>project.dataset.table</a:t>
            </a:r>
            <a:r>
              <a:rPr b="0" lang="pt-BR" sz="900">
                <a:solidFill>
                  <a:schemeClr val="dk1"/>
                </a:solidFill>
              </a:rPr>
              <a:t>) das tabelas verificadas, conforme exemplo abaixo: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277" name="Google Shape;2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3827949"/>
            <a:ext cx="5478831" cy="9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Data Quality e Tratamento de Inconsistências (BigQuery)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Análise de Discrepância de Dados entre Fontes (GCP vs. Local)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2"/>
          <p:cNvSpPr/>
          <p:nvPr/>
        </p:nvSpPr>
        <p:spPr>
          <a:xfrm>
            <a:off x="386300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65050" y="1152600"/>
            <a:ext cx="11982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Análise técnica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87" name="Google Shape;287;p22"/>
          <p:cNvSpPr txBox="1"/>
          <p:nvPr>
            <p:ph type="title"/>
          </p:nvPr>
        </p:nvSpPr>
        <p:spPr>
          <a:xfrm>
            <a:off x="578825" y="1546800"/>
            <a:ext cx="8148600" cy="14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</a:rPr>
              <a:t>Valor e Benefício: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900">
                <a:solidFill>
                  <a:schemeClr val="dk1"/>
                </a:solidFill>
              </a:rPr>
              <a:t>O maior benefício desta ferramenta é a capacidade de realizar uma análise rápida e instantânea de divergências técnicas (final_status: ERROR) no conceito geral de espelhamento. Além disso, a procedure retorna o resultado final em uma tabela temporária que pode ser exibida diretamente na tela, incluindo o campo validation_errors_list, que detalha de forma didática e concatenada (Tipo de dado: STRING vs INTEGER; Contagem total: 1000 vs 998) todos os tipos de erros encontrados em uma única coluna.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900">
                <a:solidFill>
                  <a:schemeClr val="dk1"/>
                </a:solidFill>
              </a:rPr>
              <a:t>Embora não atenda a uma verificação detalhada de divergências conceituais, ela é fundamental para garantir a paridade técnica e a integridade estrutural e volumétrica entre as fontes de dados verificadas.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pt-BR" sz="900">
                <a:solidFill>
                  <a:schemeClr val="dk1"/>
                </a:solidFill>
              </a:rPr>
              <a:t>Abaixo um modelo de resultado da execução: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</p:txBody>
      </p:sp>
      <p:pic>
        <p:nvPicPr>
          <p:cNvPr id="288" name="Google Shape;2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913" y="3058600"/>
            <a:ext cx="8262374" cy="1873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 txBox="1"/>
          <p:nvPr>
            <p:ph type="title"/>
          </p:nvPr>
        </p:nvSpPr>
        <p:spPr>
          <a:xfrm>
            <a:off x="226506" y="273600"/>
            <a:ext cx="8697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Data Quality e Tratamento de Inconsistências (BigQuery)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26500" y="578848"/>
            <a:ext cx="8697600" cy="2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Análise de Discrepância de Dados entre Fontes (GCP vs. Local)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3"/>
          <p:cNvSpPr/>
          <p:nvPr/>
        </p:nvSpPr>
        <p:spPr>
          <a:xfrm>
            <a:off x="-14225" y="1548599"/>
            <a:ext cx="9201000" cy="3126000"/>
          </a:xfrm>
          <a:prstGeom prst="rect">
            <a:avLst/>
          </a:prstGeom>
          <a:solidFill>
            <a:srgbClr val="001E3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366475" y="1240800"/>
            <a:ext cx="8439600" cy="3741600"/>
          </a:xfrm>
          <a:prstGeom prst="rect">
            <a:avLst/>
          </a:prstGeom>
          <a:solidFill>
            <a:srgbClr val="F5F1EB"/>
          </a:solidFill>
          <a:ln cap="flat" cmpd="sng" w="9525">
            <a:solidFill>
              <a:srgbClr val="264FE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465050" y="1152600"/>
            <a:ext cx="1784400" cy="153900"/>
          </a:xfrm>
          <a:prstGeom prst="rect">
            <a:avLst/>
          </a:prstGeom>
          <a:solidFill>
            <a:srgbClr val="001E3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1F3A"/>
              </a:buClr>
              <a:buSzPts val="2200"/>
              <a:buFont typeface="IBM Plex Sans"/>
              <a:buNone/>
            </a:pPr>
            <a:r>
              <a:rPr b="1" lang="pt-BR" sz="1000">
                <a:solidFill>
                  <a:srgbClr val="F5F1EB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Entregáveis</a:t>
            </a:r>
            <a:endParaRPr b="1" sz="1000">
              <a:solidFill>
                <a:srgbClr val="F5F1EB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298" name="Google Shape;298;p23"/>
          <p:cNvGraphicFramePr/>
          <p:nvPr/>
        </p:nvGraphicFramePr>
        <p:xfrm>
          <a:off x="613225" y="190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{EFD2C7DE-8383-4968-AAA6-BD4D4D1370B5}</a:tableStyleId>
              </a:tblPr>
              <a:tblGrid>
                <a:gridCol w="1758175"/>
                <a:gridCol w="5142450"/>
                <a:gridCol w="1023525"/>
              </a:tblGrid>
              <a:tr h="27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Entregável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Descrição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900">
                          <a:solidFill>
                            <a:srgbClr val="D9D9D9"/>
                          </a:solidFill>
                        </a:rPr>
                        <a:t>Questão Relacionada</a:t>
                      </a:r>
                      <a:endParaRPr b="1" sz="900">
                        <a:solidFill>
                          <a:srgbClr val="D9D9D9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</a:tr>
              <a:tr h="15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etl_users.py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Ingestão da API, criação do banco SQLite e transformação RAW →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1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etl_users_validations.py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Regras de validação aplicadas sobre as camadas RAW e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1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indicadores.sql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Script SQL que cria uma tabela de indicadores agregados a partir da camada TRUSTED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Q1 Parte 2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dag_regua_cobranca_parametrizavel.py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Definição da DAG com lógica de Branching (Dia Útil vs. Fim de Semana), 3 tentativas de retry e tratamento de erros.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>
                          <a:solidFill>
                            <a:schemeClr val="dk2"/>
                          </a:solidFill>
                        </a:rPr>
                        <a:t>Q2</a:t>
                      </a:r>
                      <a:endParaRPr sz="900">
                        <a:solidFill>
                          <a:schemeClr val="dk2"/>
                        </a:solidFill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prc_load_tb_validation.sql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Procedure SQL que executa a lógica de comparação entre as tabelas GCP e Local, gerando a tabela de inconsistências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Q3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verificacoes_validation.sql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Script de consulta (SQL) para resumir os cenários de inconsistência identificados, gerando as tabelas de resumo abaixo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Q3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prc_load_validador_tabelas.sql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Procedure SQL que executa a lógica de comparação técnica entre duas tabelas passadas como parâmetro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/>
                        <a:t>Q3</a:t>
                      </a:r>
                      <a:endParaRPr sz="9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 GB 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